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arlow Condensed" panose="00000506000000000000" pitchFamily="2" charset="0"/>
      <p:regular r:id="rId12"/>
      <p:bold r:id="rId13"/>
      <p:boldItalic r:id="rId14"/>
    </p:embeddedFont>
    <p:embeddedFont>
      <p:font typeface="Inter" panose="020B0604020202020204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qzoUgK5C+Z1FrMHPOQgrsEyd+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698AB-5678-4B70-A8BB-7461F0C9A935}" v="3" dt="2026-02-11T22:57:20.345"/>
  </p1510:revLst>
</p1510:revInfo>
</file>

<file path=ppt/tableStyles.xml><?xml version="1.0" encoding="utf-8"?>
<a:tblStyleLst xmlns:a="http://schemas.openxmlformats.org/drawingml/2006/main" def="{DA56E0B8-3C0A-46A8-B498-82B2E1A9672F}">
  <a:tblStyle styleId="{DA56E0B8-3C0A-46A8-B498-82B2E1A967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Balog" userId="65fe34fe5f15d7d1" providerId="LiveId" clId="{BE484E66-B4BC-40D2-944E-82C4DAD16F4D}"/>
    <pc:docChg chg="custSel modSld">
      <pc:chgData name="Alexander Balog" userId="65fe34fe5f15d7d1" providerId="LiveId" clId="{BE484E66-B4BC-40D2-944E-82C4DAD16F4D}" dt="2026-02-11T22:57:20.340" v="6" actId="20577"/>
      <pc:docMkLst>
        <pc:docMk/>
      </pc:docMkLst>
      <pc:sldChg chg="delSp mod">
        <pc:chgData name="Alexander Balog" userId="65fe34fe5f15d7d1" providerId="LiveId" clId="{BE484E66-B4BC-40D2-944E-82C4DAD16F4D}" dt="2026-02-11T22:56:17.416" v="0" actId="478"/>
        <pc:sldMkLst>
          <pc:docMk/>
          <pc:sldMk cId="0" sldId="256"/>
        </pc:sldMkLst>
        <pc:spChg chg="del">
          <ac:chgData name="Alexander Balog" userId="65fe34fe5f15d7d1" providerId="LiveId" clId="{BE484E66-B4BC-40D2-944E-82C4DAD16F4D}" dt="2026-02-11T22:56:17.416" v="0" actId="478"/>
          <ac:spMkLst>
            <pc:docMk/>
            <pc:sldMk cId="0" sldId="256"/>
            <ac:spMk id="102" creationId="{00000000-0000-0000-0000-000000000000}"/>
          </ac:spMkLst>
        </pc:spChg>
      </pc:sldChg>
      <pc:sldChg chg="modSp mod">
        <pc:chgData name="Alexander Balog" userId="65fe34fe5f15d7d1" providerId="LiveId" clId="{BE484E66-B4BC-40D2-944E-82C4DAD16F4D}" dt="2026-02-11T22:56:45.017" v="5" actId="1076"/>
        <pc:sldMkLst>
          <pc:docMk/>
          <pc:sldMk cId="0" sldId="258"/>
        </pc:sldMkLst>
        <pc:spChg chg="mod">
          <ac:chgData name="Alexander Balog" userId="65fe34fe5f15d7d1" providerId="LiveId" clId="{BE484E66-B4BC-40D2-944E-82C4DAD16F4D}" dt="2026-02-11T22:56:23.867" v="1" actId="115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lexander Balog" userId="65fe34fe5f15d7d1" providerId="LiveId" clId="{BE484E66-B4BC-40D2-944E-82C4DAD16F4D}" dt="2026-02-11T22:56:45.017" v="5" actId="1076"/>
          <ac:spMkLst>
            <pc:docMk/>
            <pc:sldMk cId="0" sldId="258"/>
            <ac:spMk id="173" creationId="{00000000-0000-0000-0000-000000000000}"/>
          </ac:spMkLst>
        </pc:spChg>
        <pc:spChg chg="mod">
          <ac:chgData name="Alexander Balog" userId="65fe34fe5f15d7d1" providerId="LiveId" clId="{BE484E66-B4BC-40D2-944E-82C4DAD16F4D}" dt="2026-02-11T22:56:29.578" v="2" actId="115"/>
          <ac:spMkLst>
            <pc:docMk/>
            <pc:sldMk cId="0" sldId="258"/>
            <ac:spMk id="174" creationId="{00000000-0000-0000-0000-000000000000}"/>
          </ac:spMkLst>
        </pc:spChg>
        <pc:spChg chg="mod">
          <ac:chgData name="Alexander Balog" userId="65fe34fe5f15d7d1" providerId="LiveId" clId="{BE484E66-B4BC-40D2-944E-82C4DAD16F4D}" dt="2026-02-11T22:56:32.843" v="4" actId="115"/>
          <ac:spMkLst>
            <pc:docMk/>
            <pc:sldMk cId="0" sldId="258"/>
            <ac:spMk id="175" creationId="{00000000-0000-0000-0000-000000000000}"/>
          </ac:spMkLst>
        </pc:spChg>
        <pc:spChg chg="mod">
          <ac:chgData name="Alexander Balog" userId="65fe34fe5f15d7d1" providerId="LiveId" clId="{BE484E66-B4BC-40D2-944E-82C4DAD16F4D}" dt="2026-02-11T22:56:31.017" v="3" actId="115"/>
          <ac:spMkLst>
            <pc:docMk/>
            <pc:sldMk cId="0" sldId="258"/>
            <ac:spMk id="176" creationId="{00000000-0000-0000-0000-000000000000}"/>
          </ac:spMkLst>
        </pc:spChg>
      </pc:sldChg>
      <pc:sldChg chg="modSp modNotes">
        <pc:chgData name="Alexander Balog" userId="65fe34fe5f15d7d1" providerId="LiveId" clId="{BE484E66-B4BC-40D2-944E-82C4DAD16F4D}" dt="2026-02-11T22:57:20.340" v="6" actId="20577"/>
        <pc:sldMkLst>
          <pc:docMk/>
          <pc:sldMk cId="0" sldId="264"/>
        </pc:sldMkLst>
        <pc:spChg chg="mod">
          <ac:chgData name="Alexander Balog" userId="65fe34fe5f15d7d1" providerId="LiveId" clId="{BE484E66-B4BC-40D2-944E-82C4DAD16F4D}" dt="2026-02-11T22:57:20.340" v="6" actId="20577"/>
          <ac:spMkLst>
            <pc:docMk/>
            <pc:sldMk cId="0" sldId="264"/>
            <ac:spMk id="4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125837" y="0"/>
            <a:ext cx="11162163" cy="7618176"/>
          </a:xfrm>
          <a:custGeom>
            <a:avLst/>
            <a:gdLst/>
            <a:ahLst/>
            <a:cxnLst/>
            <a:rect l="l" t="t" r="r" b="b"/>
            <a:pathLst>
              <a:path w="11162163" h="7618176" extrusionOk="0">
                <a:moveTo>
                  <a:pt x="0" y="0"/>
                </a:moveTo>
                <a:lnTo>
                  <a:pt x="11162163" y="0"/>
                </a:lnTo>
                <a:lnTo>
                  <a:pt x="11162163" y="7618176"/>
                </a:lnTo>
                <a:lnTo>
                  <a:pt x="0" y="7618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025551" y="2318294"/>
            <a:ext cx="6236898" cy="4077817"/>
          </a:xfrm>
          <a:custGeom>
            <a:avLst/>
            <a:gdLst/>
            <a:ahLst/>
            <a:cxnLst/>
            <a:rect l="l" t="t" r="r" b="b"/>
            <a:pathLst>
              <a:path w="6236898" h="4077817" extrusionOk="0">
                <a:moveTo>
                  <a:pt x="0" y="0"/>
                </a:moveTo>
                <a:lnTo>
                  <a:pt x="6236898" y="0"/>
                </a:lnTo>
                <a:lnTo>
                  <a:pt x="6236898" y="4077817"/>
                </a:lnTo>
                <a:lnTo>
                  <a:pt x="0" y="4077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088653" y="2806154"/>
            <a:ext cx="3489223" cy="2937292"/>
          </a:xfrm>
          <a:custGeom>
            <a:avLst/>
            <a:gdLst/>
            <a:ahLst/>
            <a:cxnLst/>
            <a:rect l="l" t="t" r="r" b="b"/>
            <a:pathLst>
              <a:path w="3489223" h="2937292" extrusionOk="0">
                <a:moveTo>
                  <a:pt x="0" y="0"/>
                </a:moveTo>
                <a:lnTo>
                  <a:pt x="3489223" y="0"/>
                </a:lnTo>
                <a:lnTo>
                  <a:pt x="3489223" y="2937292"/>
                </a:lnTo>
                <a:lnTo>
                  <a:pt x="0" y="293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2706919" y="2806154"/>
            <a:ext cx="2898102" cy="2898102"/>
          </a:xfrm>
          <a:custGeom>
            <a:avLst/>
            <a:gdLst/>
            <a:ahLst/>
            <a:cxnLst/>
            <a:rect l="l" t="t" r="r" b="b"/>
            <a:pathLst>
              <a:path w="2898102" h="2898102" extrusionOk="0">
                <a:moveTo>
                  <a:pt x="0" y="0"/>
                </a:moveTo>
                <a:lnTo>
                  <a:pt x="2898102" y="0"/>
                </a:lnTo>
                <a:lnTo>
                  <a:pt x="2898102" y="2898102"/>
                </a:lnTo>
                <a:lnTo>
                  <a:pt x="0" y="2898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7532035" y="6755903"/>
            <a:ext cx="3223931" cy="2554950"/>
            <a:chOff x="0" y="0"/>
            <a:chExt cx="4298574" cy="34066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298574" cy="3406601"/>
            </a:xfrm>
            <a:custGeom>
              <a:avLst/>
              <a:gdLst/>
              <a:ahLst/>
              <a:cxnLst/>
              <a:rect l="l" t="t" r="r" b="b"/>
              <a:pathLst>
                <a:path w="4298574" h="3406601" extrusionOk="0">
                  <a:moveTo>
                    <a:pt x="0" y="0"/>
                  </a:moveTo>
                  <a:lnTo>
                    <a:pt x="4298574" y="0"/>
                  </a:lnTo>
                  <a:lnTo>
                    <a:pt x="4298574" y="3406601"/>
                  </a:lnTo>
                  <a:lnTo>
                    <a:pt x="0" y="34066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14097" r="-1409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491153" y="941512"/>
              <a:ext cx="3316268" cy="1456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u="sng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XNAS: APA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87A139"/>
                  </a:solidFill>
                  <a:latin typeface="Inter"/>
                  <a:ea typeface="Inter"/>
                  <a:cs typeface="Inter"/>
                  <a:sym typeface="Inter"/>
                </a:rPr>
                <a:t>$24.05</a:t>
              </a:r>
              <a:endParaRPr/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793810" y="9310853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793810" y="8334706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670685" y="9294498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6" y="0"/>
                </a:lnTo>
                <a:lnTo>
                  <a:pt x="835936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rot="-5400000">
            <a:off x="2614826" y="9380958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670685" y="8334706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6" y="0"/>
                </a:lnTo>
                <a:lnTo>
                  <a:pt x="835936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93810" y="7319800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7313" y="8925014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7313" y="7618176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7313" y="6262634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 rot="-2126358">
            <a:off x="15261292" y="3608397"/>
            <a:ext cx="343729" cy="401382"/>
          </a:xfrm>
          <a:custGeom>
            <a:avLst/>
            <a:gdLst/>
            <a:ahLst/>
            <a:cxnLst/>
            <a:rect l="l" t="t" r="r" b="b"/>
            <a:pathLst>
              <a:path w="343729" h="401382" extrusionOk="0">
                <a:moveTo>
                  <a:pt x="0" y="0"/>
                </a:moveTo>
                <a:lnTo>
                  <a:pt x="343729" y="0"/>
                </a:lnTo>
                <a:lnTo>
                  <a:pt x="343729" y="401382"/>
                </a:lnTo>
                <a:lnTo>
                  <a:pt x="0" y="401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63834" y="437037"/>
            <a:ext cx="13760332" cy="138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27282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AJX INC. Initiates a Strong Buy: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5241354" y="6018159"/>
            <a:ext cx="7805291" cy="43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Diamond in the rough, or just another barrel of oil?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2"/>
          <p:cNvGraphicFramePr/>
          <p:nvPr/>
        </p:nvGraphicFramePr>
        <p:xfrm>
          <a:off x="715044" y="5143500"/>
          <a:ext cx="7478250" cy="4676800"/>
        </p:xfrm>
        <a:graphic>
          <a:graphicData uri="http://schemas.openxmlformats.org/drawingml/2006/table">
            <a:tbl>
              <a:tblPr>
                <a:noFill/>
                <a:tableStyleId>{DA56E0B8-3C0A-46A8-B498-82B2E1A9672F}</a:tableStyleId>
              </a:tblPr>
              <a:tblGrid>
                <a:gridCol w="249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METRICS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Sep. 2023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Sep. 2024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Price to Book Value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5.98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1.36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 Cap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$11.59B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$8.86B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$9.21B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$8.765B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EBITDA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$5.89B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$5.42B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/>
          <p:nvPr/>
        </p:nvSpPr>
        <p:spPr>
          <a:xfrm>
            <a:off x="10135669" y="5010068"/>
            <a:ext cx="7123631" cy="4272284"/>
          </a:xfrm>
          <a:custGeom>
            <a:avLst/>
            <a:gdLst/>
            <a:ahLst/>
            <a:cxnLst/>
            <a:rect l="l" t="t" r="r" b="b"/>
            <a:pathLst>
              <a:path w="7123631" h="4272284" extrusionOk="0">
                <a:moveTo>
                  <a:pt x="0" y="0"/>
                </a:moveTo>
                <a:lnTo>
                  <a:pt x="7123631" y="0"/>
                </a:lnTo>
                <a:lnTo>
                  <a:pt x="7123631" y="4272283"/>
                </a:lnTo>
                <a:lnTo>
                  <a:pt x="0" y="4272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968211" y="2588890"/>
            <a:ext cx="2351579" cy="840689"/>
          </a:xfrm>
          <a:custGeom>
            <a:avLst/>
            <a:gdLst/>
            <a:ahLst/>
            <a:cxnLst/>
            <a:rect l="l" t="t" r="r" b="b"/>
            <a:pathLst>
              <a:path w="2351579" h="840689" extrusionOk="0">
                <a:moveTo>
                  <a:pt x="0" y="0"/>
                </a:moveTo>
                <a:lnTo>
                  <a:pt x="2351578" y="0"/>
                </a:lnTo>
                <a:lnTo>
                  <a:pt x="2351578" y="840689"/>
                </a:lnTo>
                <a:lnTo>
                  <a:pt x="0" y="840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98368" y="244784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 extrusionOk="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662060" y="244784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 extrusionOk="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825752" y="244784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 extrusionOk="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11233172" y="2447843"/>
            <a:ext cx="2095500" cy="2095500"/>
            <a:chOff x="0" y="0"/>
            <a:chExt cx="2794000" cy="27940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 extrusionOk="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27000" y="872211"/>
              <a:ext cx="2540000" cy="449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OIL</a:t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842367" y="1585663"/>
              <a:ext cx="1109266" cy="503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87A139"/>
                  </a:solidFill>
                  <a:latin typeface="Arial"/>
                  <a:ea typeface="Arial"/>
                  <a:cs typeface="Arial"/>
                  <a:sym typeface="Arial"/>
                </a:rPr>
                <a:t>$6.8B</a:t>
              </a:r>
              <a:endParaRPr/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13396863" y="244784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 extrusionOk="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5560555" y="244784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 extrusionOk="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7452063" y="9258300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 rot="5400000">
            <a:off x="16497507" y="9328405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6" y="0"/>
                </a:lnTo>
                <a:lnTo>
                  <a:pt x="835936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7466439" y="8276032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305128" y="9670138"/>
            <a:ext cx="3941426" cy="43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D7CAB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305128" y="101421"/>
            <a:ext cx="15776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APA’s Price to Book value and Price to Sales values are comparable to COVID numbers despite Revenue doubling indicating undervaluation</a:t>
            </a:r>
            <a:endParaRPr sz="1100"/>
          </a:p>
        </p:txBody>
      </p:sp>
      <p:sp>
        <p:nvSpPr>
          <p:cNvPr id="129" name="Google Shape;129;p2"/>
          <p:cNvSpPr txBox="1"/>
          <p:nvPr/>
        </p:nvSpPr>
        <p:spPr>
          <a:xfrm>
            <a:off x="513623" y="1107911"/>
            <a:ext cx="1120750" cy="8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2023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593618" y="3090095"/>
            <a:ext cx="1905000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OIL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130144" y="3625184"/>
            <a:ext cx="831949" cy="38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$5.9B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2757310" y="3090571"/>
            <a:ext cx="1905000" cy="3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 Gas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3008569" y="3614122"/>
            <a:ext cx="1402482" cy="38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$880M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4934573" y="2961609"/>
            <a:ext cx="1905000" cy="70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 Gas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Liquids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5262961" y="3614122"/>
            <a:ext cx="1221081" cy="38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$508M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3492113" y="3090571"/>
            <a:ext cx="1905000" cy="3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 Gas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3912864" y="3615659"/>
            <a:ext cx="1063499" cy="38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$643M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5669377" y="2961609"/>
            <a:ext cx="1905000" cy="70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 Gas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Liquids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5967721" y="3614122"/>
            <a:ext cx="1389980" cy="38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$562M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1233172" y="1107911"/>
            <a:ext cx="1151260" cy="8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2024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2190749" y="9244251"/>
            <a:ext cx="3013472" cy="29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Indicates Potential for Upside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3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3"/>
          <p:cNvGrpSpPr/>
          <p:nvPr/>
        </p:nvGrpSpPr>
        <p:grpSpPr>
          <a:xfrm>
            <a:off x="840328" y="1557256"/>
            <a:ext cx="7186237" cy="7691519"/>
            <a:chOff x="0" y="-57150"/>
            <a:chExt cx="812800" cy="869950"/>
          </a:xfrm>
        </p:grpSpPr>
        <p:sp>
          <p:nvSpPr>
            <p:cNvPr id="151" name="Google Shape;151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728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9908843" y="1990909"/>
            <a:ext cx="7186237" cy="7108791"/>
            <a:chOff x="0" y="-57150"/>
            <a:chExt cx="1651237" cy="1633442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1651237" cy="1576292"/>
            </a:xfrm>
            <a:custGeom>
              <a:avLst/>
              <a:gdLst/>
              <a:ahLst/>
              <a:cxnLst/>
              <a:rect l="l" t="t" r="r" b="b"/>
              <a:pathLst>
                <a:path w="1651237" h="1576292" extrusionOk="0">
                  <a:moveTo>
                    <a:pt x="0" y="0"/>
                  </a:moveTo>
                  <a:lnTo>
                    <a:pt x="1651237" y="0"/>
                  </a:lnTo>
                  <a:lnTo>
                    <a:pt x="1651237" y="1576292"/>
                  </a:lnTo>
                  <a:lnTo>
                    <a:pt x="0" y="15762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-57150"/>
              <a:ext cx="1651237" cy="1633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3926839" y="4546031"/>
            <a:ext cx="1211645" cy="668829"/>
            <a:chOff x="0" y="0"/>
            <a:chExt cx="1738484" cy="998510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1738484" cy="998510"/>
            </a:xfrm>
            <a:custGeom>
              <a:avLst/>
              <a:gdLst/>
              <a:ahLst/>
              <a:cxnLst/>
              <a:rect l="l" t="t" r="r" b="b"/>
              <a:pathLst>
                <a:path w="1738484" h="998510" extrusionOk="0">
                  <a:moveTo>
                    <a:pt x="1738484" y="499255"/>
                  </a:moveTo>
                  <a:lnTo>
                    <a:pt x="1332084" y="0"/>
                  </a:lnTo>
                  <a:lnTo>
                    <a:pt x="1332084" y="203200"/>
                  </a:lnTo>
                  <a:lnTo>
                    <a:pt x="0" y="203200"/>
                  </a:lnTo>
                  <a:lnTo>
                    <a:pt x="0" y="795310"/>
                  </a:lnTo>
                  <a:lnTo>
                    <a:pt x="1332084" y="795310"/>
                  </a:lnTo>
                  <a:lnTo>
                    <a:pt x="1332084" y="998510"/>
                  </a:lnTo>
                  <a:lnTo>
                    <a:pt x="1738484" y="499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 txBox="1"/>
            <p:nvPr/>
          </p:nvSpPr>
          <p:spPr>
            <a:xfrm>
              <a:off x="0" y="146050"/>
              <a:ext cx="1636884" cy="649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9" name="Google Shape;159;p3"/>
          <p:cNvCxnSpPr/>
          <p:nvPr/>
        </p:nvCxnSpPr>
        <p:spPr>
          <a:xfrm>
            <a:off x="1187326" y="3763691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"/>
          <p:cNvCxnSpPr/>
          <p:nvPr/>
        </p:nvCxnSpPr>
        <p:spPr>
          <a:xfrm>
            <a:off x="10255841" y="3912206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"/>
          <p:cNvSpPr txBox="1"/>
          <p:nvPr/>
        </p:nvSpPr>
        <p:spPr>
          <a:xfrm>
            <a:off x="305128" y="9670138"/>
            <a:ext cx="3941426" cy="43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D7CAB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653435" y="181126"/>
            <a:ext cx="6661765" cy="84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1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Positive Outlook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840328" y="2163428"/>
            <a:ext cx="7186237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 Assumptions</a:t>
            </a:r>
            <a:endParaRPr u="sng"/>
          </a:p>
        </p:txBody>
      </p:sp>
      <p:sp>
        <p:nvSpPr>
          <p:cNvPr id="164" name="Google Shape;164;p3"/>
          <p:cNvSpPr txBox="1"/>
          <p:nvPr/>
        </p:nvSpPr>
        <p:spPr>
          <a:xfrm>
            <a:off x="4433446" y="2933112"/>
            <a:ext cx="3890233" cy="56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653435" y="2933112"/>
            <a:ext cx="3890233" cy="56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53435" y="4623109"/>
            <a:ext cx="3890233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70,000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4858140" y="4623109"/>
            <a:ext cx="3040846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139,000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53435" y="6281465"/>
            <a:ext cx="3890233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$62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4858140" y="6290990"/>
            <a:ext cx="3040846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$70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653435" y="7760740"/>
            <a:ext cx="3890233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$35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4858140" y="7760740"/>
            <a:ext cx="3040846" cy="43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$25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9908843" y="2616108"/>
            <a:ext cx="7186237" cy="64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Mergers and Acquisition 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0255841" y="3985030"/>
            <a:ext cx="6492240" cy="760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APA acquired Callum Petroleum in an all-stock transaction valued at $4.5 billion.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APA's oil-prone acreage in the Midland and Delaware Basin increased by over 50%. due to this transaction.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Acquisition boosted oil equivalent production by 25% barrels per day. 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1905000" y="3985030"/>
            <a:ext cx="56388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u="sng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 Daily Barrel Production</a:t>
            </a:r>
            <a:endParaRPr u="sng" dirty="0"/>
          </a:p>
        </p:txBody>
      </p:sp>
      <p:sp>
        <p:nvSpPr>
          <p:cNvPr id="175" name="Google Shape;175;p3"/>
          <p:cNvSpPr txBox="1"/>
          <p:nvPr/>
        </p:nvSpPr>
        <p:spPr>
          <a:xfrm>
            <a:off x="2598552" y="7237143"/>
            <a:ext cx="3890233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u="sng" dirty="0">
                <a:solidFill>
                  <a:srgbClr val="FFFFFF"/>
                </a:solidFill>
                <a:sym typeface="Arial"/>
              </a:rPr>
              <a:t>APA Stock Price</a:t>
            </a:r>
            <a:endParaRPr u="sng" dirty="0"/>
          </a:p>
        </p:txBody>
      </p:sp>
      <p:sp>
        <p:nvSpPr>
          <p:cNvPr id="176" name="Google Shape;176;p3"/>
          <p:cNvSpPr txBox="1"/>
          <p:nvPr/>
        </p:nvSpPr>
        <p:spPr>
          <a:xfrm>
            <a:off x="2598552" y="5716316"/>
            <a:ext cx="3890233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u="sng" dirty="0">
                <a:solidFill>
                  <a:srgbClr val="FFFFFF"/>
                </a:solidFill>
                <a:sym typeface="Arial"/>
              </a:rPr>
              <a:t>Average Oil Price</a:t>
            </a:r>
            <a:endParaRPr u="sng" dirty="0"/>
          </a:p>
        </p:txBody>
      </p:sp>
      <p:sp>
        <p:nvSpPr>
          <p:cNvPr id="177" name="Google Shape;177;p3"/>
          <p:cNvSpPr txBox="1"/>
          <p:nvPr/>
        </p:nvSpPr>
        <p:spPr>
          <a:xfrm>
            <a:off x="4028254" y="4698632"/>
            <a:ext cx="1012580" cy="3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198.6%</a:t>
            </a:r>
            <a:endParaRPr/>
          </a:p>
        </p:txBody>
      </p:sp>
      <p:grpSp>
        <p:nvGrpSpPr>
          <p:cNvPr id="178" name="Google Shape;178;p3"/>
          <p:cNvGrpSpPr/>
          <p:nvPr/>
        </p:nvGrpSpPr>
        <p:grpSpPr>
          <a:xfrm>
            <a:off x="3926839" y="6190246"/>
            <a:ext cx="1211645" cy="668829"/>
            <a:chOff x="0" y="0"/>
            <a:chExt cx="1738484" cy="998510"/>
          </a:xfrm>
        </p:grpSpPr>
        <p:sp>
          <p:nvSpPr>
            <p:cNvPr id="179" name="Google Shape;179;p3"/>
            <p:cNvSpPr/>
            <p:nvPr/>
          </p:nvSpPr>
          <p:spPr>
            <a:xfrm>
              <a:off x="0" y="0"/>
              <a:ext cx="1738484" cy="998510"/>
            </a:xfrm>
            <a:custGeom>
              <a:avLst/>
              <a:gdLst/>
              <a:ahLst/>
              <a:cxnLst/>
              <a:rect l="l" t="t" r="r" b="b"/>
              <a:pathLst>
                <a:path w="1738484" h="998510" extrusionOk="0">
                  <a:moveTo>
                    <a:pt x="1738484" y="499255"/>
                  </a:moveTo>
                  <a:lnTo>
                    <a:pt x="1332084" y="0"/>
                  </a:lnTo>
                  <a:lnTo>
                    <a:pt x="1332084" y="203200"/>
                  </a:lnTo>
                  <a:lnTo>
                    <a:pt x="0" y="203200"/>
                  </a:lnTo>
                  <a:lnTo>
                    <a:pt x="0" y="795310"/>
                  </a:lnTo>
                  <a:lnTo>
                    <a:pt x="1332084" y="795310"/>
                  </a:lnTo>
                  <a:lnTo>
                    <a:pt x="1332084" y="998510"/>
                  </a:lnTo>
                  <a:lnTo>
                    <a:pt x="1738484" y="499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 txBox="1"/>
            <p:nvPr/>
          </p:nvSpPr>
          <p:spPr>
            <a:xfrm>
              <a:off x="0" y="146050"/>
              <a:ext cx="1636884" cy="649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3"/>
          <p:cNvSpPr/>
          <p:nvPr/>
        </p:nvSpPr>
        <p:spPr>
          <a:xfrm>
            <a:off x="17452063" y="9258300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 rot="5400000">
            <a:off x="16497507" y="9328405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6" y="0"/>
                </a:lnTo>
                <a:lnTo>
                  <a:pt x="835936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17466439" y="8276032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4132345" y="6350997"/>
            <a:ext cx="765497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1">
                <a:solidFill>
                  <a:srgbClr val="87A139"/>
                </a:solidFill>
                <a:latin typeface="Arial"/>
                <a:ea typeface="Arial"/>
                <a:cs typeface="Arial"/>
                <a:sym typeface="Arial"/>
              </a:rPr>
              <a:t>12.9%</a:t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>
            <a:off x="3919797" y="7731718"/>
            <a:ext cx="1211645" cy="668829"/>
            <a:chOff x="0" y="0"/>
            <a:chExt cx="1738484" cy="99851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1738484" cy="998510"/>
            </a:xfrm>
            <a:custGeom>
              <a:avLst/>
              <a:gdLst/>
              <a:ahLst/>
              <a:cxnLst/>
              <a:rect l="l" t="t" r="r" b="b"/>
              <a:pathLst>
                <a:path w="1738484" h="998510" extrusionOk="0">
                  <a:moveTo>
                    <a:pt x="1738484" y="499255"/>
                  </a:moveTo>
                  <a:lnTo>
                    <a:pt x="1332084" y="0"/>
                  </a:lnTo>
                  <a:lnTo>
                    <a:pt x="1332084" y="203200"/>
                  </a:lnTo>
                  <a:lnTo>
                    <a:pt x="0" y="203200"/>
                  </a:lnTo>
                  <a:lnTo>
                    <a:pt x="0" y="795310"/>
                  </a:lnTo>
                  <a:lnTo>
                    <a:pt x="1332084" y="795310"/>
                  </a:lnTo>
                  <a:lnTo>
                    <a:pt x="1332084" y="998510"/>
                  </a:lnTo>
                  <a:lnTo>
                    <a:pt x="1738484" y="499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146050"/>
              <a:ext cx="1636884" cy="649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 txBox="1"/>
          <p:nvPr/>
        </p:nvSpPr>
        <p:spPr>
          <a:xfrm>
            <a:off x="4096998" y="7888016"/>
            <a:ext cx="789087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1">
                <a:solidFill>
                  <a:srgbClr val="FF5757"/>
                </a:solidFill>
                <a:latin typeface="Arial"/>
                <a:ea typeface="Arial"/>
                <a:cs typeface="Arial"/>
                <a:sym typeface="Arial"/>
              </a:rPr>
              <a:t>28.6%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4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194" name="Google Shape;194;p4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4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4"/>
          <p:cNvGrpSpPr/>
          <p:nvPr/>
        </p:nvGrpSpPr>
        <p:grpSpPr>
          <a:xfrm>
            <a:off x="296887" y="1525772"/>
            <a:ext cx="17750411" cy="7896274"/>
            <a:chOff x="0" y="-57150"/>
            <a:chExt cx="4684173" cy="2083755"/>
          </a:xfrm>
        </p:grpSpPr>
        <p:sp>
          <p:nvSpPr>
            <p:cNvPr id="198" name="Google Shape;198;p4"/>
            <p:cNvSpPr/>
            <p:nvPr/>
          </p:nvSpPr>
          <p:spPr>
            <a:xfrm>
              <a:off x="0" y="0"/>
              <a:ext cx="4684173" cy="2026605"/>
            </a:xfrm>
            <a:custGeom>
              <a:avLst/>
              <a:gdLst/>
              <a:ahLst/>
              <a:cxnLst/>
              <a:rect l="l" t="t" r="r" b="b"/>
              <a:pathLst>
                <a:path w="4684173" h="2026605" extrusionOk="0">
                  <a:moveTo>
                    <a:pt x="22244" y="0"/>
                  </a:moveTo>
                  <a:lnTo>
                    <a:pt x="4661929" y="0"/>
                  </a:lnTo>
                  <a:cubicBezTo>
                    <a:pt x="4674214" y="0"/>
                    <a:pt x="4684173" y="9959"/>
                    <a:pt x="4684173" y="22244"/>
                  </a:cubicBezTo>
                  <a:lnTo>
                    <a:pt x="4684173" y="2004361"/>
                  </a:lnTo>
                  <a:cubicBezTo>
                    <a:pt x="4684173" y="2016646"/>
                    <a:pt x="4674214" y="2026605"/>
                    <a:pt x="4661929" y="2026605"/>
                  </a:cubicBezTo>
                  <a:lnTo>
                    <a:pt x="22244" y="2026605"/>
                  </a:lnTo>
                  <a:cubicBezTo>
                    <a:pt x="16344" y="2026605"/>
                    <a:pt x="10687" y="2024262"/>
                    <a:pt x="6515" y="2020090"/>
                  </a:cubicBezTo>
                  <a:cubicBezTo>
                    <a:pt x="2344" y="2015918"/>
                    <a:pt x="0" y="2010261"/>
                    <a:pt x="0" y="2004361"/>
                  </a:cubicBezTo>
                  <a:lnTo>
                    <a:pt x="0" y="22244"/>
                  </a:lnTo>
                  <a:cubicBezTo>
                    <a:pt x="0" y="9959"/>
                    <a:pt x="9959" y="0"/>
                    <a:pt x="22244" y="0"/>
                  </a:cubicBezTo>
                  <a:close/>
                </a:path>
              </a:pathLst>
            </a:custGeom>
            <a:solidFill>
              <a:srgbClr val="231F20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4"/>
            <p:cNvSpPr txBox="1"/>
            <p:nvPr/>
          </p:nvSpPr>
          <p:spPr>
            <a:xfrm>
              <a:off x="0" y="-57150"/>
              <a:ext cx="4684173" cy="2083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4"/>
          <p:cNvSpPr/>
          <p:nvPr/>
        </p:nvSpPr>
        <p:spPr>
          <a:xfrm>
            <a:off x="6046646" y="2181502"/>
            <a:ext cx="44230" cy="7076798"/>
          </a:xfrm>
          <a:custGeom>
            <a:avLst/>
            <a:gdLst/>
            <a:ahLst/>
            <a:cxnLst/>
            <a:rect l="l" t="t" r="r" b="b"/>
            <a:pathLst>
              <a:path w="44230" h="7076798" extrusionOk="0">
                <a:moveTo>
                  <a:pt x="0" y="0"/>
                </a:moveTo>
                <a:lnTo>
                  <a:pt x="44230" y="0"/>
                </a:lnTo>
                <a:lnTo>
                  <a:pt x="44230" y="7076798"/>
                </a:lnTo>
                <a:lnTo>
                  <a:pt x="0" y="7076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2140575" y="2181502"/>
            <a:ext cx="43585" cy="6973632"/>
          </a:xfrm>
          <a:custGeom>
            <a:avLst/>
            <a:gdLst/>
            <a:ahLst/>
            <a:cxnLst/>
            <a:rect l="l" t="t" r="r" b="b"/>
            <a:pathLst>
              <a:path w="43585" h="6973632" extrusionOk="0">
                <a:moveTo>
                  <a:pt x="0" y="0"/>
                </a:moveTo>
                <a:lnTo>
                  <a:pt x="43585" y="0"/>
                </a:lnTo>
                <a:lnTo>
                  <a:pt x="43585" y="6973632"/>
                </a:lnTo>
                <a:lnTo>
                  <a:pt x="0" y="6973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633801" y="3488078"/>
            <a:ext cx="4855744" cy="39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 - 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Significant debt can strain cash flows, increase interest expenses, and limit financial flexibility.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Factors -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Interest payments, refinancing challenges, and financial covenants.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296887" y="1028700"/>
            <a:ext cx="1463627" cy="1416059"/>
          </a:xfrm>
          <a:custGeom>
            <a:avLst/>
            <a:gdLst/>
            <a:ahLst/>
            <a:cxnLst/>
            <a:rect l="l" t="t" r="r" b="b"/>
            <a:pathLst>
              <a:path w="1463627" h="1416059" extrusionOk="0">
                <a:moveTo>
                  <a:pt x="0" y="0"/>
                </a:moveTo>
                <a:lnTo>
                  <a:pt x="1463626" y="0"/>
                </a:lnTo>
                <a:lnTo>
                  <a:pt x="1463626" y="1416059"/>
                </a:lnTo>
                <a:lnTo>
                  <a:pt x="0" y="1416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6179534" y="1066649"/>
            <a:ext cx="1542020" cy="1482267"/>
          </a:xfrm>
          <a:custGeom>
            <a:avLst/>
            <a:gdLst/>
            <a:ahLst/>
            <a:cxnLst/>
            <a:rect l="l" t="t" r="r" b="b"/>
            <a:pathLst>
              <a:path w="1542020" h="1482267" extrusionOk="0">
                <a:moveTo>
                  <a:pt x="0" y="0"/>
                </a:moveTo>
                <a:lnTo>
                  <a:pt x="1542020" y="0"/>
                </a:lnTo>
                <a:lnTo>
                  <a:pt x="1542020" y="1482267"/>
                </a:lnTo>
                <a:lnTo>
                  <a:pt x="0" y="1482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12511894" y="1142382"/>
            <a:ext cx="1416059" cy="1416059"/>
          </a:xfrm>
          <a:custGeom>
            <a:avLst/>
            <a:gdLst/>
            <a:ahLst/>
            <a:cxnLst/>
            <a:rect l="l" t="t" r="r" b="b"/>
            <a:pathLst>
              <a:path w="1416059" h="1416059" extrusionOk="0">
                <a:moveTo>
                  <a:pt x="0" y="0"/>
                </a:moveTo>
                <a:lnTo>
                  <a:pt x="1416059" y="0"/>
                </a:lnTo>
                <a:lnTo>
                  <a:pt x="1416059" y="1416059"/>
                </a:lnTo>
                <a:lnTo>
                  <a:pt x="0" y="1416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542743" y="219075"/>
            <a:ext cx="8553632" cy="84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1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Risks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647977" y="2615591"/>
            <a:ext cx="4855744" cy="4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Commodity Price Volatility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7538725" y="2615591"/>
            <a:ext cx="3045897" cy="4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Debt Levels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13454791" y="2615591"/>
            <a:ext cx="3195919" cy="4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Geopolitical Risks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47977" y="3488078"/>
            <a:ext cx="4855744" cy="43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 -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APA’s revenue and profitability are sensitive to fluctuations in oil and natural gas prices.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Factors -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Global supply and demand, geopolitical events, and economic conditions influence prices.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12841385" y="3488078"/>
            <a:ext cx="4855744" cy="39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 - 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International operations expose APA to political instability, regulatory changes, and expropriation risks.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Factors - </a:t>
            </a:r>
            <a:r>
              <a:rPr lang="en-US" sz="24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Disruption of operations, increased costs, and potential asset seizures.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5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217" name="Google Shape;217;p5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5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5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5"/>
          <p:cNvGrpSpPr/>
          <p:nvPr/>
        </p:nvGrpSpPr>
        <p:grpSpPr>
          <a:xfrm>
            <a:off x="305128" y="1462421"/>
            <a:ext cx="5382322" cy="909892"/>
            <a:chOff x="0" y="-219877"/>
            <a:chExt cx="7176429" cy="1213189"/>
          </a:xfrm>
        </p:grpSpPr>
        <p:grpSp>
          <p:nvGrpSpPr>
            <p:cNvPr id="221" name="Google Shape;221;p5"/>
            <p:cNvGrpSpPr/>
            <p:nvPr/>
          </p:nvGrpSpPr>
          <p:grpSpPr>
            <a:xfrm>
              <a:off x="0" y="-219877"/>
              <a:ext cx="7176429" cy="1213189"/>
              <a:chOff x="0" y="-38100"/>
              <a:chExt cx="1243522" cy="210220"/>
            </a:xfrm>
          </p:grpSpPr>
          <p:sp>
            <p:nvSpPr>
              <p:cNvPr id="222" name="Google Shape;222;p5"/>
              <p:cNvSpPr/>
              <p:nvPr/>
            </p:nvSpPr>
            <p:spPr>
              <a:xfrm>
                <a:off x="0" y="0"/>
                <a:ext cx="1243522" cy="172120"/>
              </a:xfrm>
              <a:custGeom>
                <a:avLst/>
                <a:gdLst/>
                <a:ahLst/>
                <a:cxnLst/>
                <a:rect l="l" t="t" r="r" b="b"/>
                <a:pathLst>
                  <a:path w="1243522" h="172120" extrusionOk="0">
                    <a:moveTo>
                      <a:pt x="27500" y="0"/>
                    </a:moveTo>
                    <a:lnTo>
                      <a:pt x="1216022" y="0"/>
                    </a:lnTo>
                    <a:cubicBezTo>
                      <a:pt x="1231210" y="0"/>
                      <a:pt x="1243522" y="12312"/>
                      <a:pt x="1243522" y="27500"/>
                    </a:cubicBezTo>
                    <a:lnTo>
                      <a:pt x="1243522" y="144620"/>
                    </a:lnTo>
                    <a:cubicBezTo>
                      <a:pt x="1243522" y="151913"/>
                      <a:pt x="1240625" y="158908"/>
                      <a:pt x="1235468" y="164065"/>
                    </a:cubicBezTo>
                    <a:cubicBezTo>
                      <a:pt x="1230310" y="169223"/>
                      <a:pt x="1223316" y="172120"/>
                      <a:pt x="1216022" y="172120"/>
                    </a:cubicBezTo>
                    <a:lnTo>
                      <a:pt x="27500" y="172120"/>
                    </a:lnTo>
                    <a:cubicBezTo>
                      <a:pt x="20206" y="172120"/>
                      <a:pt x="13212" y="169223"/>
                      <a:pt x="8055" y="164065"/>
                    </a:cubicBezTo>
                    <a:cubicBezTo>
                      <a:pt x="2897" y="158908"/>
                      <a:pt x="0" y="151913"/>
                      <a:pt x="0" y="144620"/>
                    </a:cubicBezTo>
                    <a:lnTo>
                      <a:pt x="0" y="27500"/>
                    </a:lnTo>
                    <a:cubicBezTo>
                      <a:pt x="0" y="20206"/>
                      <a:pt x="2897" y="13212"/>
                      <a:pt x="8055" y="8055"/>
                    </a:cubicBezTo>
                    <a:cubicBezTo>
                      <a:pt x="13212" y="2897"/>
                      <a:pt x="20206" y="0"/>
                      <a:pt x="27500" y="0"/>
                    </a:cubicBezTo>
                    <a:close/>
                  </a:path>
                </a:pathLst>
              </a:custGeom>
              <a:solidFill>
                <a:srgbClr val="2728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5"/>
              <p:cNvSpPr txBox="1"/>
              <p:nvPr/>
            </p:nvSpPr>
            <p:spPr>
              <a:xfrm>
                <a:off x="0" y="-38100"/>
                <a:ext cx="1243522" cy="210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5"/>
            <p:cNvSpPr txBox="1"/>
            <p:nvPr/>
          </p:nvSpPr>
          <p:spPr>
            <a:xfrm>
              <a:off x="332595" y="70839"/>
              <a:ext cx="6511239" cy="676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Diversified Locations</a:t>
              </a:r>
              <a:endParaRPr/>
            </a:p>
          </p:txBody>
        </p:sp>
      </p:grpSp>
      <p:grpSp>
        <p:nvGrpSpPr>
          <p:cNvPr id="225" name="Google Shape;225;p5"/>
          <p:cNvGrpSpPr/>
          <p:nvPr/>
        </p:nvGrpSpPr>
        <p:grpSpPr>
          <a:xfrm>
            <a:off x="2714625" y="3228908"/>
            <a:ext cx="1905000" cy="2399232"/>
            <a:chOff x="0" y="-32542"/>
            <a:chExt cx="125432" cy="157974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125432" cy="125432"/>
            </a:xfrm>
            <a:custGeom>
              <a:avLst/>
              <a:gdLst/>
              <a:ahLst/>
              <a:cxnLst/>
              <a:rect l="l" t="t" r="r" b="b"/>
              <a:pathLst>
                <a:path w="125432" h="125432" extrusionOk="0">
                  <a:moveTo>
                    <a:pt x="62716" y="0"/>
                  </a:moveTo>
                  <a:cubicBezTo>
                    <a:pt x="28079" y="0"/>
                    <a:pt x="0" y="28079"/>
                    <a:pt x="0" y="62716"/>
                  </a:cubicBezTo>
                  <a:cubicBezTo>
                    <a:pt x="0" y="97353"/>
                    <a:pt x="28079" y="125432"/>
                    <a:pt x="62716" y="125432"/>
                  </a:cubicBezTo>
                  <a:cubicBezTo>
                    <a:pt x="97353" y="125432"/>
                    <a:pt x="125432" y="97353"/>
                    <a:pt x="125432" y="62716"/>
                  </a:cubicBezTo>
                  <a:cubicBezTo>
                    <a:pt x="125432" y="28079"/>
                    <a:pt x="97353" y="0"/>
                    <a:pt x="62716" y="0"/>
                  </a:cubicBezTo>
                  <a:close/>
                </a:path>
              </a:pathLst>
            </a:custGeom>
            <a:solidFill>
              <a:srgbClr val="ADADAD">
                <a:alpha val="8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1759" y="-32542"/>
              <a:ext cx="101912" cy="146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United Kingdom</a:t>
              </a:r>
              <a:endParaRPr dirty="0"/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523720" y="4686418"/>
            <a:ext cx="1905000" cy="2291750"/>
            <a:chOff x="0" y="-25465"/>
            <a:chExt cx="125432" cy="150897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125432" cy="125432"/>
            </a:xfrm>
            <a:custGeom>
              <a:avLst/>
              <a:gdLst/>
              <a:ahLst/>
              <a:cxnLst/>
              <a:rect l="l" t="t" r="r" b="b"/>
              <a:pathLst>
                <a:path w="125432" h="125432" extrusionOk="0">
                  <a:moveTo>
                    <a:pt x="62716" y="0"/>
                  </a:moveTo>
                  <a:cubicBezTo>
                    <a:pt x="28079" y="0"/>
                    <a:pt x="0" y="28079"/>
                    <a:pt x="0" y="62716"/>
                  </a:cubicBezTo>
                  <a:cubicBezTo>
                    <a:pt x="0" y="97353"/>
                    <a:pt x="28079" y="125432"/>
                    <a:pt x="62716" y="125432"/>
                  </a:cubicBezTo>
                  <a:cubicBezTo>
                    <a:pt x="97353" y="125432"/>
                    <a:pt x="125432" y="97353"/>
                    <a:pt x="125432" y="62716"/>
                  </a:cubicBezTo>
                  <a:cubicBezTo>
                    <a:pt x="125432" y="28079"/>
                    <a:pt x="97353" y="0"/>
                    <a:pt x="62716" y="0"/>
                  </a:cubicBezTo>
                  <a:close/>
                </a:path>
              </a:pathLst>
            </a:custGeom>
            <a:solidFill>
              <a:srgbClr val="ADADAD">
                <a:alpha val="8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11759" y="-25465"/>
              <a:ext cx="101587" cy="13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Egypt</a:t>
              </a:r>
              <a:endParaRPr/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2714625" y="5847078"/>
            <a:ext cx="1905000" cy="2083590"/>
            <a:chOff x="0" y="-11759"/>
            <a:chExt cx="125432" cy="137191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125432" cy="125432"/>
            </a:xfrm>
            <a:custGeom>
              <a:avLst/>
              <a:gdLst/>
              <a:ahLst/>
              <a:cxnLst/>
              <a:rect l="l" t="t" r="r" b="b"/>
              <a:pathLst>
                <a:path w="125432" h="125432" extrusionOk="0">
                  <a:moveTo>
                    <a:pt x="62716" y="0"/>
                  </a:moveTo>
                  <a:cubicBezTo>
                    <a:pt x="28079" y="0"/>
                    <a:pt x="0" y="28079"/>
                    <a:pt x="0" y="62716"/>
                  </a:cubicBezTo>
                  <a:cubicBezTo>
                    <a:pt x="0" y="97353"/>
                    <a:pt x="28079" y="125432"/>
                    <a:pt x="62716" y="125432"/>
                  </a:cubicBezTo>
                  <a:cubicBezTo>
                    <a:pt x="97353" y="125432"/>
                    <a:pt x="125432" y="97353"/>
                    <a:pt x="125432" y="62716"/>
                  </a:cubicBezTo>
                  <a:cubicBezTo>
                    <a:pt x="125432" y="28079"/>
                    <a:pt x="97353" y="0"/>
                    <a:pt x="62716" y="0"/>
                  </a:cubicBezTo>
                  <a:close/>
                </a:path>
              </a:pathLst>
            </a:custGeom>
            <a:solidFill>
              <a:srgbClr val="ADADAD">
                <a:alpha val="8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11759" y="-11759"/>
              <a:ext cx="101913" cy="12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Suriname</a:t>
              </a:r>
              <a:endParaRPr/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523720" y="7285743"/>
            <a:ext cx="1905000" cy="2055493"/>
            <a:chOff x="0" y="-11759"/>
            <a:chExt cx="125432" cy="135341"/>
          </a:xfrm>
        </p:grpSpPr>
        <p:sp>
          <p:nvSpPr>
            <p:cNvPr id="235" name="Google Shape;235;p5"/>
            <p:cNvSpPr/>
            <p:nvPr/>
          </p:nvSpPr>
          <p:spPr>
            <a:xfrm>
              <a:off x="0" y="-1850"/>
              <a:ext cx="125432" cy="125432"/>
            </a:xfrm>
            <a:custGeom>
              <a:avLst/>
              <a:gdLst/>
              <a:ahLst/>
              <a:cxnLst/>
              <a:rect l="l" t="t" r="r" b="b"/>
              <a:pathLst>
                <a:path w="125432" h="125432" extrusionOk="0">
                  <a:moveTo>
                    <a:pt x="62716" y="0"/>
                  </a:moveTo>
                  <a:cubicBezTo>
                    <a:pt x="28079" y="0"/>
                    <a:pt x="0" y="28079"/>
                    <a:pt x="0" y="62716"/>
                  </a:cubicBezTo>
                  <a:cubicBezTo>
                    <a:pt x="0" y="97353"/>
                    <a:pt x="28079" y="125432"/>
                    <a:pt x="62716" y="125432"/>
                  </a:cubicBezTo>
                  <a:cubicBezTo>
                    <a:pt x="97353" y="125432"/>
                    <a:pt x="125432" y="97353"/>
                    <a:pt x="125432" y="62716"/>
                  </a:cubicBezTo>
                  <a:cubicBezTo>
                    <a:pt x="125432" y="28079"/>
                    <a:pt x="97353" y="0"/>
                    <a:pt x="62716" y="0"/>
                  </a:cubicBezTo>
                  <a:close/>
                </a:path>
              </a:pathLst>
            </a:custGeom>
            <a:solidFill>
              <a:srgbClr val="ADADAD">
                <a:alpha val="8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11759" y="-11759"/>
              <a:ext cx="101914" cy="12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Uruguay</a:t>
              </a:r>
              <a:endParaRPr/>
            </a:p>
          </p:txBody>
        </p:sp>
      </p:grpSp>
      <p:grpSp>
        <p:nvGrpSpPr>
          <p:cNvPr id="237" name="Google Shape;237;p5"/>
          <p:cNvGrpSpPr/>
          <p:nvPr/>
        </p:nvGrpSpPr>
        <p:grpSpPr>
          <a:xfrm>
            <a:off x="523720" y="2376047"/>
            <a:ext cx="1905000" cy="2449715"/>
            <a:chOff x="0" y="-35866"/>
            <a:chExt cx="125432" cy="161298"/>
          </a:xfrm>
        </p:grpSpPr>
        <p:sp>
          <p:nvSpPr>
            <p:cNvPr id="238" name="Google Shape;238;p5"/>
            <p:cNvSpPr/>
            <p:nvPr/>
          </p:nvSpPr>
          <p:spPr>
            <a:xfrm>
              <a:off x="0" y="0"/>
              <a:ext cx="125432" cy="125432"/>
            </a:xfrm>
            <a:custGeom>
              <a:avLst/>
              <a:gdLst/>
              <a:ahLst/>
              <a:cxnLst/>
              <a:rect l="l" t="t" r="r" b="b"/>
              <a:pathLst>
                <a:path w="125432" h="125432" extrusionOk="0">
                  <a:moveTo>
                    <a:pt x="62716" y="0"/>
                  </a:moveTo>
                  <a:cubicBezTo>
                    <a:pt x="28079" y="0"/>
                    <a:pt x="0" y="28079"/>
                    <a:pt x="0" y="62716"/>
                  </a:cubicBezTo>
                  <a:cubicBezTo>
                    <a:pt x="0" y="97353"/>
                    <a:pt x="28079" y="125432"/>
                    <a:pt x="62716" y="125432"/>
                  </a:cubicBezTo>
                  <a:cubicBezTo>
                    <a:pt x="97353" y="125432"/>
                    <a:pt x="125432" y="97353"/>
                    <a:pt x="125432" y="62716"/>
                  </a:cubicBezTo>
                  <a:cubicBezTo>
                    <a:pt x="125432" y="28079"/>
                    <a:pt x="97353" y="0"/>
                    <a:pt x="62716" y="0"/>
                  </a:cubicBezTo>
                  <a:close/>
                </a:path>
              </a:pathLst>
            </a:custGeom>
            <a:solidFill>
              <a:srgbClr val="ADADAD">
                <a:alpha val="8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1759" y="-35866"/>
              <a:ext cx="101914" cy="149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North America</a:t>
              </a:r>
              <a:endParaRPr dirty="0"/>
            </a:p>
          </p:txBody>
        </p:sp>
      </p:grpSp>
      <p:grpSp>
        <p:nvGrpSpPr>
          <p:cNvPr id="240" name="Google Shape;240;p5"/>
          <p:cNvGrpSpPr/>
          <p:nvPr/>
        </p:nvGrpSpPr>
        <p:grpSpPr>
          <a:xfrm>
            <a:off x="6689887" y="1473714"/>
            <a:ext cx="4957342" cy="878892"/>
            <a:chOff x="0" y="-204820"/>
            <a:chExt cx="6609790" cy="1171855"/>
          </a:xfrm>
        </p:grpSpPr>
        <p:grpSp>
          <p:nvGrpSpPr>
            <p:cNvPr id="241" name="Google Shape;241;p5"/>
            <p:cNvGrpSpPr/>
            <p:nvPr/>
          </p:nvGrpSpPr>
          <p:grpSpPr>
            <a:xfrm>
              <a:off x="0" y="-204820"/>
              <a:ext cx="6609790" cy="1171855"/>
              <a:chOff x="0" y="-38100"/>
              <a:chExt cx="1229535" cy="217985"/>
            </a:xfrm>
          </p:grpSpPr>
          <p:sp>
            <p:nvSpPr>
              <p:cNvPr id="242" name="Google Shape;242;p5"/>
              <p:cNvSpPr/>
              <p:nvPr/>
            </p:nvSpPr>
            <p:spPr>
              <a:xfrm>
                <a:off x="0" y="0"/>
                <a:ext cx="1229535" cy="179885"/>
              </a:xfrm>
              <a:custGeom>
                <a:avLst/>
                <a:gdLst/>
                <a:ahLst/>
                <a:cxnLst/>
                <a:rect l="l" t="t" r="r" b="b"/>
                <a:pathLst>
                  <a:path w="1229535" h="179885" extrusionOk="0">
                    <a:moveTo>
                      <a:pt x="27813" y="0"/>
                    </a:moveTo>
                    <a:lnTo>
                      <a:pt x="1201722" y="0"/>
                    </a:lnTo>
                    <a:cubicBezTo>
                      <a:pt x="1217083" y="0"/>
                      <a:pt x="1229535" y="12452"/>
                      <a:pt x="1229535" y="27813"/>
                    </a:cubicBezTo>
                    <a:lnTo>
                      <a:pt x="1229535" y="152073"/>
                    </a:lnTo>
                    <a:cubicBezTo>
                      <a:pt x="1229535" y="167433"/>
                      <a:pt x="1217083" y="179885"/>
                      <a:pt x="1201722" y="179885"/>
                    </a:cubicBezTo>
                    <a:lnTo>
                      <a:pt x="27813" y="179885"/>
                    </a:lnTo>
                    <a:cubicBezTo>
                      <a:pt x="12452" y="179885"/>
                      <a:pt x="0" y="167433"/>
                      <a:pt x="0" y="152073"/>
                    </a:cubicBezTo>
                    <a:lnTo>
                      <a:pt x="0" y="27813"/>
                    </a:lnTo>
                    <a:cubicBezTo>
                      <a:pt x="0" y="12452"/>
                      <a:pt x="12452" y="0"/>
                      <a:pt x="27813" y="0"/>
                    </a:cubicBezTo>
                    <a:close/>
                  </a:path>
                </a:pathLst>
              </a:custGeom>
              <a:solidFill>
                <a:srgbClr val="2728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5"/>
              <p:cNvSpPr txBox="1"/>
              <p:nvPr/>
            </p:nvSpPr>
            <p:spPr>
              <a:xfrm>
                <a:off x="0" y="-38100"/>
                <a:ext cx="1229535" cy="2179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" name="Google Shape;244;p5"/>
            <p:cNvSpPr txBox="1"/>
            <p:nvPr/>
          </p:nvSpPr>
          <p:spPr>
            <a:xfrm>
              <a:off x="306334" y="70947"/>
              <a:ext cx="5997122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Diversified Products</a:t>
              </a:r>
              <a:endParaRPr/>
            </a:p>
          </p:txBody>
        </p:sp>
      </p:grpSp>
      <p:grpSp>
        <p:nvGrpSpPr>
          <p:cNvPr id="245" name="Google Shape;245;p5"/>
          <p:cNvGrpSpPr/>
          <p:nvPr/>
        </p:nvGrpSpPr>
        <p:grpSpPr>
          <a:xfrm>
            <a:off x="12649666" y="1473714"/>
            <a:ext cx="5203419" cy="878892"/>
            <a:chOff x="0" y="-204820"/>
            <a:chExt cx="6937892" cy="1171855"/>
          </a:xfrm>
        </p:grpSpPr>
        <p:grpSp>
          <p:nvGrpSpPr>
            <p:cNvPr id="246" name="Google Shape;246;p5"/>
            <p:cNvGrpSpPr/>
            <p:nvPr/>
          </p:nvGrpSpPr>
          <p:grpSpPr>
            <a:xfrm>
              <a:off x="0" y="-204820"/>
              <a:ext cx="6937892" cy="1171855"/>
              <a:chOff x="0" y="-38100"/>
              <a:chExt cx="1290568" cy="217985"/>
            </a:xfrm>
          </p:grpSpPr>
          <p:sp>
            <p:nvSpPr>
              <p:cNvPr id="247" name="Google Shape;247;p5"/>
              <p:cNvSpPr/>
              <p:nvPr/>
            </p:nvSpPr>
            <p:spPr>
              <a:xfrm>
                <a:off x="0" y="0"/>
                <a:ext cx="1290568" cy="179885"/>
              </a:xfrm>
              <a:custGeom>
                <a:avLst/>
                <a:gdLst/>
                <a:ahLst/>
                <a:cxnLst/>
                <a:rect l="l" t="t" r="r" b="b"/>
                <a:pathLst>
                  <a:path w="1290568" h="179885" extrusionOk="0">
                    <a:moveTo>
                      <a:pt x="26497" y="0"/>
                    </a:moveTo>
                    <a:lnTo>
                      <a:pt x="1264070" y="0"/>
                    </a:lnTo>
                    <a:cubicBezTo>
                      <a:pt x="1271098" y="0"/>
                      <a:pt x="1277838" y="2792"/>
                      <a:pt x="1282807" y="7761"/>
                    </a:cubicBezTo>
                    <a:cubicBezTo>
                      <a:pt x="1287776" y="12730"/>
                      <a:pt x="1290568" y="19470"/>
                      <a:pt x="1290568" y="26497"/>
                    </a:cubicBezTo>
                    <a:lnTo>
                      <a:pt x="1290568" y="153388"/>
                    </a:lnTo>
                    <a:cubicBezTo>
                      <a:pt x="1290568" y="160415"/>
                      <a:pt x="1287776" y="167155"/>
                      <a:pt x="1282807" y="172124"/>
                    </a:cubicBezTo>
                    <a:cubicBezTo>
                      <a:pt x="1277838" y="177094"/>
                      <a:pt x="1271098" y="179885"/>
                      <a:pt x="1264070" y="179885"/>
                    </a:cubicBezTo>
                    <a:lnTo>
                      <a:pt x="26497" y="179885"/>
                    </a:lnTo>
                    <a:cubicBezTo>
                      <a:pt x="19470" y="179885"/>
                      <a:pt x="12730" y="177094"/>
                      <a:pt x="7761" y="172124"/>
                    </a:cubicBezTo>
                    <a:cubicBezTo>
                      <a:pt x="2792" y="167155"/>
                      <a:pt x="0" y="160415"/>
                      <a:pt x="0" y="153388"/>
                    </a:cubicBezTo>
                    <a:lnTo>
                      <a:pt x="0" y="26497"/>
                    </a:lnTo>
                    <a:cubicBezTo>
                      <a:pt x="0" y="19470"/>
                      <a:pt x="2792" y="12730"/>
                      <a:pt x="7761" y="7761"/>
                    </a:cubicBezTo>
                    <a:cubicBezTo>
                      <a:pt x="12730" y="2792"/>
                      <a:pt x="19470" y="0"/>
                      <a:pt x="26497" y="0"/>
                    </a:cubicBezTo>
                    <a:close/>
                  </a:path>
                </a:pathLst>
              </a:custGeom>
              <a:solidFill>
                <a:srgbClr val="2728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5"/>
              <p:cNvSpPr txBox="1"/>
              <p:nvPr/>
            </p:nvSpPr>
            <p:spPr>
              <a:xfrm>
                <a:off x="0" y="-38100"/>
                <a:ext cx="1290568" cy="2179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" name="Google Shape;249;p5"/>
            <p:cNvSpPr txBox="1"/>
            <p:nvPr/>
          </p:nvSpPr>
          <p:spPr>
            <a:xfrm>
              <a:off x="321540" y="61422"/>
              <a:ext cx="6294812" cy="676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Diversified Investments</a:t>
              </a:r>
              <a:endParaRPr/>
            </a:p>
          </p:txBody>
        </p:sp>
      </p:grpSp>
      <p:cxnSp>
        <p:nvCxnSpPr>
          <p:cNvPr id="250" name="Google Shape;250;p5"/>
          <p:cNvCxnSpPr/>
          <p:nvPr/>
        </p:nvCxnSpPr>
        <p:spPr>
          <a:xfrm>
            <a:off x="5915472" y="3026648"/>
            <a:ext cx="0" cy="649224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5"/>
          <p:cNvCxnSpPr/>
          <p:nvPr/>
        </p:nvCxnSpPr>
        <p:spPr>
          <a:xfrm>
            <a:off x="12034780" y="3026648"/>
            <a:ext cx="0" cy="649224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5"/>
          <p:cNvSpPr/>
          <p:nvPr/>
        </p:nvSpPr>
        <p:spPr>
          <a:xfrm>
            <a:off x="12339580" y="3653883"/>
            <a:ext cx="355623" cy="355623"/>
          </a:xfrm>
          <a:custGeom>
            <a:avLst/>
            <a:gdLst/>
            <a:ahLst/>
            <a:cxnLst/>
            <a:rect l="l" t="t" r="r" b="b"/>
            <a:pathLst>
              <a:path w="355623" h="355623" extrusionOk="0">
                <a:moveTo>
                  <a:pt x="0" y="0"/>
                </a:moveTo>
                <a:lnTo>
                  <a:pt x="355624" y="0"/>
                </a:lnTo>
                <a:lnTo>
                  <a:pt x="355624" y="355623"/>
                </a:lnTo>
                <a:lnTo>
                  <a:pt x="0" y="355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406910" y="3653883"/>
            <a:ext cx="355623" cy="355623"/>
          </a:xfrm>
          <a:custGeom>
            <a:avLst/>
            <a:gdLst/>
            <a:ahLst/>
            <a:cxnLst/>
            <a:rect l="l" t="t" r="r" b="b"/>
            <a:pathLst>
              <a:path w="355623" h="355623" extrusionOk="0">
                <a:moveTo>
                  <a:pt x="0" y="0"/>
                </a:moveTo>
                <a:lnTo>
                  <a:pt x="355623" y="0"/>
                </a:lnTo>
                <a:lnTo>
                  <a:pt x="355623" y="355623"/>
                </a:lnTo>
                <a:lnTo>
                  <a:pt x="0" y="355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406910" y="4708339"/>
            <a:ext cx="355623" cy="355623"/>
          </a:xfrm>
          <a:custGeom>
            <a:avLst/>
            <a:gdLst/>
            <a:ahLst/>
            <a:cxnLst/>
            <a:rect l="l" t="t" r="r" b="b"/>
            <a:pathLst>
              <a:path w="355623" h="355623" extrusionOk="0">
                <a:moveTo>
                  <a:pt x="0" y="0"/>
                </a:moveTo>
                <a:lnTo>
                  <a:pt x="355623" y="0"/>
                </a:lnTo>
                <a:lnTo>
                  <a:pt x="355623" y="355623"/>
                </a:lnTo>
                <a:lnTo>
                  <a:pt x="0" y="355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6406910" y="5677024"/>
            <a:ext cx="355623" cy="355623"/>
          </a:xfrm>
          <a:custGeom>
            <a:avLst/>
            <a:gdLst/>
            <a:ahLst/>
            <a:cxnLst/>
            <a:rect l="l" t="t" r="r" b="b"/>
            <a:pathLst>
              <a:path w="355623" h="355623" extrusionOk="0">
                <a:moveTo>
                  <a:pt x="0" y="0"/>
                </a:moveTo>
                <a:lnTo>
                  <a:pt x="355623" y="0"/>
                </a:lnTo>
                <a:lnTo>
                  <a:pt x="355623" y="355624"/>
                </a:lnTo>
                <a:lnTo>
                  <a:pt x="0" y="355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7469837" y="8931458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305123" y="191450"/>
            <a:ext cx="130083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APA’s Diversified Portfolio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3019102" y="3425643"/>
            <a:ext cx="5751210" cy="6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8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Arcadium Lithium: ALTM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7086432" y="3425643"/>
            <a:ext cx="5751210" cy="72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8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Oil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7086432" y="4480099"/>
            <a:ext cx="5751210" cy="72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8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Natural Gas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7086432" y="5448785"/>
            <a:ext cx="5751210" cy="72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8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Natural Gas Liquid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16876051" y="8931458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8" y="0"/>
                </a:lnTo>
                <a:lnTo>
                  <a:pt x="766498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16208583" y="8931458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17469837" y="7575916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 rot="5400000">
            <a:off x="15147563" y="9224366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1"/>
                </a:lnTo>
                <a:lnTo>
                  <a:pt x="0" y="135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867598" y="8537978"/>
            <a:ext cx="1313675" cy="491722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883639" y="8599173"/>
            <a:ext cx="1313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Asset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816899" y="3994566"/>
            <a:ext cx="1258554" cy="417627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843435" y="6096358"/>
            <a:ext cx="1258554" cy="417627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3037833" y="7068469"/>
            <a:ext cx="1258554" cy="417627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3122394" y="7101077"/>
            <a:ext cx="10997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9% Rev</a:t>
            </a:r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975699" y="6104126"/>
            <a:ext cx="10997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35% Rev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990600" y="4009506"/>
            <a:ext cx="10997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56% Rev</a:t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3042523" y="4848387"/>
            <a:ext cx="1313675" cy="491722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3058564" y="4909582"/>
            <a:ext cx="1313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Asset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6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0C0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6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7492076" y="1849194"/>
            <a:ext cx="50703" cy="8112420"/>
          </a:xfrm>
          <a:custGeom>
            <a:avLst/>
            <a:gdLst/>
            <a:ahLst/>
            <a:cxnLst/>
            <a:rect l="l" t="t" r="r" b="b"/>
            <a:pathLst>
              <a:path w="50703" h="8112420" extrusionOk="0">
                <a:moveTo>
                  <a:pt x="0" y="0"/>
                </a:moveTo>
                <a:lnTo>
                  <a:pt x="50702" y="0"/>
                </a:lnTo>
                <a:lnTo>
                  <a:pt x="50702" y="8112420"/>
                </a:lnTo>
                <a:lnTo>
                  <a:pt x="0" y="8112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6"/>
          <p:cNvGrpSpPr/>
          <p:nvPr/>
        </p:nvGrpSpPr>
        <p:grpSpPr>
          <a:xfrm>
            <a:off x="305128" y="1737377"/>
            <a:ext cx="7010072" cy="1191065"/>
            <a:chOff x="0" y="-362276"/>
            <a:chExt cx="9346762" cy="1588087"/>
          </a:xfrm>
        </p:grpSpPr>
        <p:grpSp>
          <p:nvGrpSpPr>
            <p:cNvPr id="286" name="Google Shape;286;p6"/>
            <p:cNvGrpSpPr/>
            <p:nvPr/>
          </p:nvGrpSpPr>
          <p:grpSpPr>
            <a:xfrm>
              <a:off x="0" y="-362276"/>
              <a:ext cx="9346762" cy="1588087"/>
              <a:chOff x="0" y="-57150"/>
              <a:chExt cx="1474479" cy="250525"/>
            </a:xfrm>
          </p:grpSpPr>
          <p:sp>
            <p:nvSpPr>
              <p:cNvPr id="287" name="Google Shape;287;p6"/>
              <p:cNvSpPr/>
              <p:nvPr/>
            </p:nvSpPr>
            <p:spPr>
              <a:xfrm>
                <a:off x="0" y="0"/>
                <a:ext cx="1474479" cy="193375"/>
              </a:xfrm>
              <a:custGeom>
                <a:avLst/>
                <a:gdLst/>
                <a:ahLst/>
                <a:cxnLst/>
                <a:rect l="l" t="t" r="r" b="b"/>
                <a:pathLst>
                  <a:path w="1474479" h="193375" extrusionOk="0">
                    <a:moveTo>
                      <a:pt x="23192" y="0"/>
                    </a:moveTo>
                    <a:lnTo>
                      <a:pt x="1451287" y="0"/>
                    </a:lnTo>
                    <a:cubicBezTo>
                      <a:pt x="1457437" y="0"/>
                      <a:pt x="1463337" y="2443"/>
                      <a:pt x="1467686" y="6793"/>
                    </a:cubicBezTo>
                    <a:cubicBezTo>
                      <a:pt x="1472035" y="11142"/>
                      <a:pt x="1474479" y="17041"/>
                      <a:pt x="1474479" y="23192"/>
                    </a:cubicBezTo>
                    <a:lnTo>
                      <a:pt x="1474479" y="170183"/>
                    </a:lnTo>
                    <a:cubicBezTo>
                      <a:pt x="1474479" y="182992"/>
                      <a:pt x="1464095" y="193375"/>
                      <a:pt x="1451287" y="193375"/>
                    </a:cubicBezTo>
                    <a:lnTo>
                      <a:pt x="23192" y="193375"/>
                    </a:lnTo>
                    <a:cubicBezTo>
                      <a:pt x="17041" y="193375"/>
                      <a:pt x="11142" y="190932"/>
                      <a:pt x="6793" y="186582"/>
                    </a:cubicBezTo>
                    <a:cubicBezTo>
                      <a:pt x="2443" y="182233"/>
                      <a:pt x="0" y="176334"/>
                      <a:pt x="0" y="170183"/>
                    </a:cubicBezTo>
                    <a:lnTo>
                      <a:pt x="0" y="23192"/>
                    </a:lnTo>
                    <a:cubicBezTo>
                      <a:pt x="0" y="17041"/>
                      <a:pt x="2443" y="11142"/>
                      <a:pt x="6793" y="6793"/>
                    </a:cubicBezTo>
                    <a:cubicBezTo>
                      <a:pt x="11142" y="2443"/>
                      <a:pt x="17041" y="0"/>
                      <a:pt x="23192" y="0"/>
                    </a:cubicBezTo>
                    <a:close/>
                  </a:path>
                </a:pathLst>
              </a:custGeom>
              <a:solidFill>
                <a:srgbClr val="2728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6"/>
              <p:cNvSpPr txBox="1"/>
              <p:nvPr/>
            </p:nvSpPr>
            <p:spPr>
              <a:xfrm>
                <a:off x="0" y="-57150"/>
                <a:ext cx="1474479" cy="25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6"/>
            <p:cNvSpPr txBox="1"/>
            <p:nvPr/>
          </p:nvSpPr>
          <p:spPr>
            <a:xfrm>
              <a:off x="779540" y="259469"/>
              <a:ext cx="8201353" cy="642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Industry Competitive Analysis</a:t>
              </a:r>
              <a:endParaRPr/>
            </a:p>
          </p:txBody>
        </p:sp>
      </p:grpSp>
      <p:grpSp>
        <p:nvGrpSpPr>
          <p:cNvPr id="290" name="Google Shape;290;p6"/>
          <p:cNvGrpSpPr/>
          <p:nvPr/>
        </p:nvGrpSpPr>
        <p:grpSpPr>
          <a:xfrm>
            <a:off x="7723753" y="1738068"/>
            <a:ext cx="10279519" cy="1191065"/>
            <a:chOff x="0" y="-362276"/>
            <a:chExt cx="13706025" cy="1588087"/>
          </a:xfrm>
        </p:grpSpPr>
        <p:grpSp>
          <p:nvGrpSpPr>
            <p:cNvPr id="291" name="Google Shape;291;p6"/>
            <p:cNvGrpSpPr/>
            <p:nvPr/>
          </p:nvGrpSpPr>
          <p:grpSpPr>
            <a:xfrm>
              <a:off x="0" y="-362276"/>
              <a:ext cx="13706025" cy="1588087"/>
              <a:chOff x="0" y="-57150"/>
              <a:chExt cx="2162165" cy="250525"/>
            </a:xfrm>
          </p:grpSpPr>
          <p:sp>
            <p:nvSpPr>
              <p:cNvPr id="292" name="Google Shape;292;p6"/>
              <p:cNvSpPr/>
              <p:nvPr/>
            </p:nvSpPr>
            <p:spPr>
              <a:xfrm>
                <a:off x="0" y="0"/>
                <a:ext cx="2162165" cy="193375"/>
              </a:xfrm>
              <a:custGeom>
                <a:avLst/>
                <a:gdLst/>
                <a:ahLst/>
                <a:cxnLst/>
                <a:rect l="l" t="t" r="r" b="b"/>
                <a:pathLst>
                  <a:path w="2162165" h="193375" extrusionOk="0">
                    <a:moveTo>
                      <a:pt x="15063" y="0"/>
                    </a:moveTo>
                    <a:lnTo>
                      <a:pt x="2147102" y="0"/>
                    </a:lnTo>
                    <a:cubicBezTo>
                      <a:pt x="2155421" y="0"/>
                      <a:pt x="2162165" y="6744"/>
                      <a:pt x="2162165" y="15063"/>
                    </a:cubicBezTo>
                    <a:lnTo>
                      <a:pt x="2162165" y="178312"/>
                    </a:lnTo>
                    <a:cubicBezTo>
                      <a:pt x="2162165" y="186631"/>
                      <a:pt x="2155421" y="193375"/>
                      <a:pt x="2147102" y="193375"/>
                    </a:cubicBezTo>
                    <a:lnTo>
                      <a:pt x="15063" y="193375"/>
                    </a:lnTo>
                    <a:cubicBezTo>
                      <a:pt x="11068" y="193375"/>
                      <a:pt x="7237" y="191788"/>
                      <a:pt x="4412" y="188963"/>
                    </a:cubicBezTo>
                    <a:cubicBezTo>
                      <a:pt x="1587" y="186139"/>
                      <a:pt x="0" y="182307"/>
                      <a:pt x="0" y="178312"/>
                    </a:cubicBezTo>
                    <a:lnTo>
                      <a:pt x="0" y="15063"/>
                    </a:lnTo>
                    <a:cubicBezTo>
                      <a:pt x="0" y="6744"/>
                      <a:pt x="6744" y="0"/>
                      <a:pt x="150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6"/>
              <p:cNvSpPr txBox="1"/>
              <p:nvPr/>
            </p:nvSpPr>
            <p:spPr>
              <a:xfrm>
                <a:off x="0" y="-57150"/>
                <a:ext cx="2162165" cy="25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" name="Google Shape;294;p6"/>
            <p:cNvSpPr txBox="1"/>
            <p:nvPr/>
          </p:nvSpPr>
          <p:spPr>
            <a:xfrm>
              <a:off x="127545" y="259469"/>
              <a:ext cx="13521394" cy="638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Market Comparables Analysis</a:t>
              </a:r>
              <a:endParaRPr/>
            </a:p>
          </p:txBody>
        </p:sp>
      </p:grpSp>
      <p:grpSp>
        <p:nvGrpSpPr>
          <p:cNvPr id="295" name="Google Shape;295;p6"/>
          <p:cNvGrpSpPr/>
          <p:nvPr/>
        </p:nvGrpSpPr>
        <p:grpSpPr>
          <a:xfrm>
            <a:off x="333586" y="3301073"/>
            <a:ext cx="6648029" cy="1123076"/>
            <a:chOff x="0" y="-57150"/>
            <a:chExt cx="1642839" cy="277531"/>
          </a:xfrm>
        </p:grpSpPr>
        <p:sp>
          <p:nvSpPr>
            <p:cNvPr id="296" name="Google Shape;296;p6"/>
            <p:cNvSpPr/>
            <p:nvPr/>
          </p:nvSpPr>
          <p:spPr>
            <a:xfrm>
              <a:off x="0" y="0"/>
              <a:ext cx="1642839" cy="220381"/>
            </a:xfrm>
            <a:custGeom>
              <a:avLst/>
              <a:gdLst/>
              <a:ahLst/>
              <a:cxnLst/>
              <a:rect l="l" t="t" r="r" b="b"/>
              <a:pathLst>
                <a:path w="1642839" h="220381" extrusionOk="0">
                  <a:moveTo>
                    <a:pt x="34936" y="0"/>
                  </a:moveTo>
                  <a:lnTo>
                    <a:pt x="1607902" y="0"/>
                  </a:lnTo>
                  <a:cubicBezTo>
                    <a:pt x="1617168" y="0"/>
                    <a:pt x="1626054" y="3681"/>
                    <a:pt x="1632606" y="10233"/>
                  </a:cubicBezTo>
                  <a:cubicBezTo>
                    <a:pt x="1639158" y="16784"/>
                    <a:pt x="1642839" y="25671"/>
                    <a:pt x="1642839" y="34936"/>
                  </a:cubicBezTo>
                  <a:lnTo>
                    <a:pt x="1642839" y="185444"/>
                  </a:lnTo>
                  <a:cubicBezTo>
                    <a:pt x="1642839" y="204739"/>
                    <a:pt x="1627197" y="220381"/>
                    <a:pt x="1607902" y="220381"/>
                  </a:cubicBezTo>
                  <a:lnTo>
                    <a:pt x="34936" y="220381"/>
                  </a:lnTo>
                  <a:cubicBezTo>
                    <a:pt x="25671" y="220381"/>
                    <a:pt x="16784" y="216700"/>
                    <a:pt x="10233" y="210148"/>
                  </a:cubicBezTo>
                  <a:cubicBezTo>
                    <a:pt x="3681" y="203596"/>
                    <a:pt x="0" y="194710"/>
                    <a:pt x="0" y="185444"/>
                  </a:cubicBezTo>
                  <a:lnTo>
                    <a:pt x="0" y="34936"/>
                  </a:lnTo>
                  <a:cubicBezTo>
                    <a:pt x="0" y="25671"/>
                    <a:pt x="3681" y="16784"/>
                    <a:pt x="10233" y="10233"/>
                  </a:cubicBezTo>
                  <a:cubicBezTo>
                    <a:pt x="16784" y="3681"/>
                    <a:pt x="25671" y="0"/>
                    <a:pt x="3493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0" y="-57150"/>
              <a:ext cx="1642839" cy="27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6"/>
          <p:cNvGrpSpPr/>
          <p:nvPr/>
        </p:nvGrpSpPr>
        <p:grpSpPr>
          <a:xfrm>
            <a:off x="333586" y="4487605"/>
            <a:ext cx="6648029" cy="1123076"/>
            <a:chOff x="0" y="-57150"/>
            <a:chExt cx="1642839" cy="277531"/>
          </a:xfrm>
        </p:grpSpPr>
        <p:sp>
          <p:nvSpPr>
            <p:cNvPr id="299" name="Google Shape;299;p6"/>
            <p:cNvSpPr/>
            <p:nvPr/>
          </p:nvSpPr>
          <p:spPr>
            <a:xfrm>
              <a:off x="0" y="0"/>
              <a:ext cx="1642839" cy="220381"/>
            </a:xfrm>
            <a:custGeom>
              <a:avLst/>
              <a:gdLst/>
              <a:ahLst/>
              <a:cxnLst/>
              <a:rect l="l" t="t" r="r" b="b"/>
              <a:pathLst>
                <a:path w="1642839" h="220381" extrusionOk="0">
                  <a:moveTo>
                    <a:pt x="34936" y="0"/>
                  </a:moveTo>
                  <a:lnTo>
                    <a:pt x="1607902" y="0"/>
                  </a:lnTo>
                  <a:cubicBezTo>
                    <a:pt x="1617168" y="0"/>
                    <a:pt x="1626054" y="3681"/>
                    <a:pt x="1632606" y="10233"/>
                  </a:cubicBezTo>
                  <a:cubicBezTo>
                    <a:pt x="1639158" y="16784"/>
                    <a:pt x="1642839" y="25671"/>
                    <a:pt x="1642839" y="34936"/>
                  </a:cubicBezTo>
                  <a:lnTo>
                    <a:pt x="1642839" y="185444"/>
                  </a:lnTo>
                  <a:cubicBezTo>
                    <a:pt x="1642839" y="204739"/>
                    <a:pt x="1627197" y="220381"/>
                    <a:pt x="1607902" y="220381"/>
                  </a:cubicBezTo>
                  <a:lnTo>
                    <a:pt x="34936" y="220381"/>
                  </a:lnTo>
                  <a:cubicBezTo>
                    <a:pt x="25671" y="220381"/>
                    <a:pt x="16784" y="216700"/>
                    <a:pt x="10233" y="210148"/>
                  </a:cubicBezTo>
                  <a:cubicBezTo>
                    <a:pt x="3681" y="203596"/>
                    <a:pt x="0" y="194710"/>
                    <a:pt x="0" y="185444"/>
                  </a:cubicBezTo>
                  <a:lnTo>
                    <a:pt x="0" y="34936"/>
                  </a:lnTo>
                  <a:cubicBezTo>
                    <a:pt x="0" y="25671"/>
                    <a:pt x="3681" y="16784"/>
                    <a:pt x="10233" y="10233"/>
                  </a:cubicBezTo>
                  <a:cubicBezTo>
                    <a:pt x="16784" y="3681"/>
                    <a:pt x="25671" y="0"/>
                    <a:pt x="3493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6"/>
            <p:cNvSpPr txBox="1"/>
            <p:nvPr/>
          </p:nvSpPr>
          <p:spPr>
            <a:xfrm>
              <a:off x="0" y="-57150"/>
              <a:ext cx="1642839" cy="27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6"/>
          <p:cNvGrpSpPr/>
          <p:nvPr/>
        </p:nvGrpSpPr>
        <p:grpSpPr>
          <a:xfrm>
            <a:off x="333586" y="5674137"/>
            <a:ext cx="6648029" cy="1123076"/>
            <a:chOff x="0" y="-57150"/>
            <a:chExt cx="1642839" cy="277531"/>
          </a:xfrm>
        </p:grpSpPr>
        <p:sp>
          <p:nvSpPr>
            <p:cNvPr id="302" name="Google Shape;302;p6"/>
            <p:cNvSpPr/>
            <p:nvPr/>
          </p:nvSpPr>
          <p:spPr>
            <a:xfrm>
              <a:off x="0" y="0"/>
              <a:ext cx="1642839" cy="220381"/>
            </a:xfrm>
            <a:custGeom>
              <a:avLst/>
              <a:gdLst/>
              <a:ahLst/>
              <a:cxnLst/>
              <a:rect l="l" t="t" r="r" b="b"/>
              <a:pathLst>
                <a:path w="1642839" h="220381" extrusionOk="0">
                  <a:moveTo>
                    <a:pt x="34936" y="0"/>
                  </a:moveTo>
                  <a:lnTo>
                    <a:pt x="1607902" y="0"/>
                  </a:lnTo>
                  <a:cubicBezTo>
                    <a:pt x="1617168" y="0"/>
                    <a:pt x="1626054" y="3681"/>
                    <a:pt x="1632606" y="10233"/>
                  </a:cubicBezTo>
                  <a:cubicBezTo>
                    <a:pt x="1639158" y="16784"/>
                    <a:pt x="1642839" y="25671"/>
                    <a:pt x="1642839" y="34936"/>
                  </a:cubicBezTo>
                  <a:lnTo>
                    <a:pt x="1642839" y="185444"/>
                  </a:lnTo>
                  <a:cubicBezTo>
                    <a:pt x="1642839" y="204739"/>
                    <a:pt x="1627197" y="220381"/>
                    <a:pt x="1607902" y="220381"/>
                  </a:cubicBezTo>
                  <a:lnTo>
                    <a:pt x="34936" y="220381"/>
                  </a:lnTo>
                  <a:cubicBezTo>
                    <a:pt x="25671" y="220381"/>
                    <a:pt x="16784" y="216700"/>
                    <a:pt x="10233" y="210148"/>
                  </a:cubicBezTo>
                  <a:cubicBezTo>
                    <a:pt x="3681" y="203596"/>
                    <a:pt x="0" y="194710"/>
                    <a:pt x="0" y="185444"/>
                  </a:cubicBezTo>
                  <a:lnTo>
                    <a:pt x="0" y="34936"/>
                  </a:lnTo>
                  <a:cubicBezTo>
                    <a:pt x="0" y="25671"/>
                    <a:pt x="3681" y="16784"/>
                    <a:pt x="10233" y="10233"/>
                  </a:cubicBezTo>
                  <a:cubicBezTo>
                    <a:pt x="16784" y="3681"/>
                    <a:pt x="25671" y="0"/>
                    <a:pt x="3493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6"/>
            <p:cNvSpPr txBox="1"/>
            <p:nvPr/>
          </p:nvSpPr>
          <p:spPr>
            <a:xfrm>
              <a:off x="0" y="-57150"/>
              <a:ext cx="1642839" cy="27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6"/>
          <p:cNvGrpSpPr/>
          <p:nvPr/>
        </p:nvGrpSpPr>
        <p:grpSpPr>
          <a:xfrm>
            <a:off x="7591647" y="3082672"/>
            <a:ext cx="10543732" cy="6322666"/>
            <a:chOff x="0" y="-308356"/>
            <a:chExt cx="14058309" cy="8430221"/>
          </a:xfrm>
        </p:grpSpPr>
        <p:grpSp>
          <p:nvGrpSpPr>
            <p:cNvPr id="305" name="Google Shape;305;p6"/>
            <p:cNvGrpSpPr/>
            <p:nvPr/>
          </p:nvGrpSpPr>
          <p:grpSpPr>
            <a:xfrm>
              <a:off x="0" y="-308356"/>
              <a:ext cx="14058309" cy="8430221"/>
              <a:chOff x="0" y="-57150"/>
              <a:chExt cx="2605532" cy="1562436"/>
            </a:xfrm>
          </p:grpSpPr>
          <p:sp>
            <p:nvSpPr>
              <p:cNvPr id="306" name="Google Shape;306;p6"/>
              <p:cNvSpPr/>
              <p:nvPr/>
            </p:nvSpPr>
            <p:spPr>
              <a:xfrm>
                <a:off x="0" y="0"/>
                <a:ext cx="2605532" cy="1505286"/>
              </a:xfrm>
              <a:custGeom>
                <a:avLst/>
                <a:gdLst/>
                <a:ahLst/>
                <a:cxnLst/>
                <a:rect l="l" t="t" r="r" b="b"/>
                <a:pathLst>
                  <a:path w="2605532" h="1505286" extrusionOk="0">
                    <a:moveTo>
                      <a:pt x="22028" y="0"/>
                    </a:moveTo>
                    <a:lnTo>
                      <a:pt x="2583504" y="0"/>
                    </a:lnTo>
                    <a:cubicBezTo>
                      <a:pt x="2589346" y="0"/>
                      <a:pt x="2594949" y="2321"/>
                      <a:pt x="2599080" y="6452"/>
                    </a:cubicBezTo>
                    <a:cubicBezTo>
                      <a:pt x="2603211" y="10583"/>
                      <a:pt x="2605532" y="16186"/>
                      <a:pt x="2605532" y="22028"/>
                    </a:cubicBezTo>
                    <a:lnTo>
                      <a:pt x="2605532" y="1483258"/>
                    </a:lnTo>
                    <a:cubicBezTo>
                      <a:pt x="2605532" y="1489100"/>
                      <a:pt x="2603211" y="1494703"/>
                      <a:pt x="2599080" y="1498834"/>
                    </a:cubicBezTo>
                    <a:cubicBezTo>
                      <a:pt x="2594949" y="1502965"/>
                      <a:pt x="2589346" y="1505286"/>
                      <a:pt x="2583504" y="1505286"/>
                    </a:cubicBezTo>
                    <a:lnTo>
                      <a:pt x="22028" y="1505286"/>
                    </a:lnTo>
                    <a:cubicBezTo>
                      <a:pt x="16186" y="1505286"/>
                      <a:pt x="10583" y="1502965"/>
                      <a:pt x="6452" y="1498834"/>
                    </a:cubicBezTo>
                    <a:cubicBezTo>
                      <a:pt x="2321" y="1494703"/>
                      <a:pt x="0" y="1489100"/>
                      <a:pt x="0" y="1483258"/>
                    </a:cubicBezTo>
                    <a:lnTo>
                      <a:pt x="0" y="22028"/>
                    </a:lnTo>
                    <a:cubicBezTo>
                      <a:pt x="0" y="16186"/>
                      <a:pt x="2321" y="10583"/>
                      <a:pt x="6452" y="6452"/>
                    </a:cubicBezTo>
                    <a:cubicBezTo>
                      <a:pt x="10583" y="2321"/>
                      <a:pt x="16186" y="0"/>
                      <a:pt x="220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6"/>
              <p:cNvSpPr txBox="1"/>
              <p:nvPr/>
            </p:nvSpPr>
            <p:spPr>
              <a:xfrm>
                <a:off x="0" y="-57150"/>
                <a:ext cx="2605532" cy="1562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" name="Google Shape;308;p6"/>
            <p:cNvSpPr/>
            <p:nvPr/>
          </p:nvSpPr>
          <p:spPr>
            <a:xfrm>
              <a:off x="164077" y="112855"/>
              <a:ext cx="13718090" cy="7870754"/>
            </a:xfrm>
            <a:custGeom>
              <a:avLst/>
              <a:gdLst/>
              <a:ahLst/>
              <a:cxnLst/>
              <a:rect l="l" t="t" r="r" b="b"/>
              <a:pathLst>
                <a:path w="13718090" h="7870754" extrusionOk="0">
                  <a:moveTo>
                    <a:pt x="0" y="0"/>
                  </a:moveTo>
                  <a:lnTo>
                    <a:pt x="13718090" y="0"/>
                  </a:lnTo>
                  <a:lnTo>
                    <a:pt x="13718090" y="7870754"/>
                  </a:lnTo>
                  <a:lnTo>
                    <a:pt x="0" y="78707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6"/>
          <p:cNvSpPr/>
          <p:nvPr/>
        </p:nvSpPr>
        <p:spPr>
          <a:xfrm>
            <a:off x="0" y="9258300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305128" y="206355"/>
            <a:ext cx="11684754" cy="81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Competitive Analysis</a:t>
            </a:r>
            <a:endParaRPr/>
          </a:p>
        </p:txBody>
      </p:sp>
      <p:sp>
        <p:nvSpPr>
          <p:cNvPr id="311" name="Google Shape;311;p6"/>
          <p:cNvSpPr txBox="1"/>
          <p:nvPr/>
        </p:nvSpPr>
        <p:spPr>
          <a:xfrm>
            <a:off x="549744" y="3599839"/>
            <a:ext cx="6300930" cy="70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2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Higher Revenue than Diamondback Energy Corp (whose market cap is 3x of APA)</a:t>
            </a:r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565959" y="4805444"/>
            <a:ext cx="6300930" cy="70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2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Antero Resources produces half the revenue of APA at the same market cap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525422" y="5952676"/>
            <a:ext cx="6300930" cy="70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2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APA yields a higher interest coverage ratio (9.86 compared to 9.2) than industry average.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835937" y="8878905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0" y="8283112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7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321" name="Google Shape;321;p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7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7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" name="Google Shape;324;p7"/>
          <p:cNvGrpSpPr/>
          <p:nvPr/>
        </p:nvGrpSpPr>
        <p:grpSpPr>
          <a:xfrm>
            <a:off x="1028700" y="2894134"/>
            <a:ext cx="3381672" cy="3421301"/>
            <a:chOff x="0" y="-9525"/>
            <a:chExt cx="812800" cy="822325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8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99" b="1">
                  <a:solidFill>
                    <a:srgbClr val="87A139"/>
                  </a:solidFill>
                  <a:latin typeface="Inter"/>
                  <a:ea typeface="Inter"/>
                  <a:cs typeface="Inter"/>
                  <a:sym typeface="Inter"/>
                </a:rPr>
                <a:t>$2.7 B </a:t>
              </a:r>
              <a:r>
                <a:rPr lang="en-US" sz="4299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Shares 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Repurchased</a:t>
              </a:r>
              <a:endParaRPr/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7320602" y="2933763"/>
            <a:ext cx="3381672" cy="3381672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8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99" b="1">
                  <a:solidFill>
                    <a:srgbClr val="87A139"/>
                  </a:solidFill>
                  <a:latin typeface="Inter"/>
                  <a:ea typeface="Inter"/>
                  <a:cs typeface="Inter"/>
                  <a:sym typeface="Inter"/>
                </a:rPr>
                <a:t>$735 M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Dividend 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Payouts </a:t>
              </a:r>
              <a:endParaRPr/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13612503" y="2933763"/>
            <a:ext cx="3381672" cy="3381672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8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>
                  <a:solidFill>
                    <a:srgbClr val="87A139"/>
                  </a:solidFill>
                  <a:latin typeface="Inter"/>
                  <a:ea typeface="Inter"/>
                  <a:cs typeface="Inter"/>
                  <a:sym typeface="Inter"/>
                </a:rPr>
                <a:t>$5.4 B / 64%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Forward Free </a:t>
              </a:r>
              <a:endParaRPr/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Cash Flow</a:t>
              </a:r>
              <a:endParaRPr/>
            </a:p>
          </p:txBody>
        </p:sp>
      </p:grpSp>
      <p:sp>
        <p:nvSpPr>
          <p:cNvPr id="333" name="Google Shape;333;p7"/>
          <p:cNvSpPr/>
          <p:nvPr/>
        </p:nvSpPr>
        <p:spPr>
          <a:xfrm>
            <a:off x="446100" y="7414477"/>
            <a:ext cx="304900" cy="304900"/>
          </a:xfrm>
          <a:custGeom>
            <a:avLst/>
            <a:gdLst/>
            <a:ahLst/>
            <a:cxnLst/>
            <a:rect l="l" t="t" r="r" b="b"/>
            <a:pathLst>
              <a:path w="304900" h="304900" extrusionOk="0">
                <a:moveTo>
                  <a:pt x="0" y="0"/>
                </a:moveTo>
                <a:lnTo>
                  <a:pt x="304900" y="0"/>
                </a:lnTo>
                <a:lnTo>
                  <a:pt x="304900" y="304901"/>
                </a:lnTo>
                <a:lnTo>
                  <a:pt x="0" y="304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46100" y="8172300"/>
            <a:ext cx="304900" cy="304900"/>
          </a:xfrm>
          <a:custGeom>
            <a:avLst/>
            <a:gdLst/>
            <a:ahLst/>
            <a:cxnLst/>
            <a:rect l="l" t="t" r="r" b="b"/>
            <a:pathLst>
              <a:path w="304900" h="304900" extrusionOk="0">
                <a:moveTo>
                  <a:pt x="0" y="0"/>
                </a:moveTo>
                <a:lnTo>
                  <a:pt x="304900" y="0"/>
                </a:lnTo>
                <a:lnTo>
                  <a:pt x="304900" y="304900"/>
                </a:lnTo>
                <a:lnTo>
                  <a:pt x="0" y="304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55625" y="8924825"/>
            <a:ext cx="304900" cy="304900"/>
          </a:xfrm>
          <a:custGeom>
            <a:avLst/>
            <a:gdLst/>
            <a:ahLst/>
            <a:cxnLst/>
            <a:rect l="l" t="t" r="r" b="b"/>
            <a:pathLst>
              <a:path w="304900" h="304900" extrusionOk="0">
                <a:moveTo>
                  <a:pt x="0" y="0"/>
                </a:moveTo>
                <a:lnTo>
                  <a:pt x="304900" y="0"/>
                </a:lnTo>
                <a:lnTo>
                  <a:pt x="304900" y="304900"/>
                </a:lnTo>
                <a:lnTo>
                  <a:pt x="0" y="304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17521503" y="8931458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269974" y="231765"/>
            <a:ext cx="9658350" cy="81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u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Commitment to Investors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465150" y="1460138"/>
            <a:ext cx="17357701" cy="89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1">
                <a:solidFill>
                  <a:srgbClr val="27282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Since 2021, APA has returned...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1028700" y="7235140"/>
            <a:ext cx="15725294" cy="51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APA has exhibited consistent revenue growth, averaging 8.61% YoY growth since 2016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028700" y="7975550"/>
            <a:ext cx="16329001" cy="51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 2023, APA finished a $3.2B bond reduction initiative.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1028700" y="8740775"/>
            <a:ext cx="16329001" cy="109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Alternatively, tangible book rose from -1.6B in 2021, to $2.6B in 2024, showing APA Corporations commitment to increasing shareholder value. </a:t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16755005" y="8924825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8" y="0"/>
                </a:lnTo>
                <a:lnTo>
                  <a:pt x="766498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17521503" y="7721733"/>
            <a:ext cx="766497" cy="1355542"/>
          </a:xfrm>
          <a:custGeom>
            <a:avLst/>
            <a:gdLst/>
            <a:ahLst/>
            <a:cxnLst/>
            <a:rect l="l" t="t" r="r" b="b"/>
            <a:pathLst>
              <a:path w="766497" h="1355542" extrusionOk="0">
                <a:moveTo>
                  <a:pt x="0" y="0"/>
                </a:moveTo>
                <a:lnTo>
                  <a:pt x="766497" y="0"/>
                </a:lnTo>
                <a:lnTo>
                  <a:pt x="766497" y="1355542"/>
                </a:lnTo>
                <a:lnTo>
                  <a:pt x="0" y="1355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8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8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8"/>
          <p:cNvGrpSpPr/>
          <p:nvPr/>
        </p:nvGrpSpPr>
        <p:grpSpPr>
          <a:xfrm>
            <a:off x="269974" y="6692678"/>
            <a:ext cx="12364208" cy="2809298"/>
            <a:chOff x="0" y="-57150"/>
            <a:chExt cx="3256417" cy="739898"/>
          </a:xfrm>
        </p:grpSpPr>
        <p:sp>
          <p:nvSpPr>
            <p:cNvPr id="353" name="Google Shape;353;p8"/>
            <p:cNvSpPr/>
            <p:nvPr/>
          </p:nvSpPr>
          <p:spPr>
            <a:xfrm>
              <a:off x="0" y="0"/>
              <a:ext cx="3256417" cy="682748"/>
            </a:xfrm>
            <a:custGeom>
              <a:avLst/>
              <a:gdLst/>
              <a:ahLst/>
              <a:cxnLst/>
              <a:rect l="l" t="t" r="r" b="b"/>
              <a:pathLst>
                <a:path w="3256417" h="682748" extrusionOk="0">
                  <a:moveTo>
                    <a:pt x="12523" y="0"/>
                  </a:moveTo>
                  <a:lnTo>
                    <a:pt x="3243894" y="0"/>
                  </a:lnTo>
                  <a:cubicBezTo>
                    <a:pt x="3250810" y="0"/>
                    <a:pt x="3256417" y="5607"/>
                    <a:pt x="3256417" y="12523"/>
                  </a:cubicBezTo>
                  <a:lnTo>
                    <a:pt x="3256417" y="670224"/>
                  </a:lnTo>
                  <a:cubicBezTo>
                    <a:pt x="3256417" y="677141"/>
                    <a:pt x="3250810" y="682748"/>
                    <a:pt x="3243894" y="682748"/>
                  </a:cubicBezTo>
                  <a:lnTo>
                    <a:pt x="12523" y="682748"/>
                  </a:lnTo>
                  <a:cubicBezTo>
                    <a:pt x="9202" y="682748"/>
                    <a:pt x="6016" y="681428"/>
                    <a:pt x="3668" y="679080"/>
                  </a:cubicBezTo>
                  <a:cubicBezTo>
                    <a:pt x="1319" y="676731"/>
                    <a:pt x="0" y="673546"/>
                    <a:pt x="0" y="670224"/>
                  </a:cubicBezTo>
                  <a:lnTo>
                    <a:pt x="0" y="12523"/>
                  </a:lnTo>
                  <a:cubicBezTo>
                    <a:pt x="0" y="9202"/>
                    <a:pt x="1319" y="6016"/>
                    <a:pt x="3668" y="3668"/>
                  </a:cubicBezTo>
                  <a:cubicBezTo>
                    <a:pt x="6016" y="1319"/>
                    <a:pt x="9202" y="0"/>
                    <a:pt x="12523" y="0"/>
                  </a:cubicBezTo>
                  <a:close/>
                </a:path>
              </a:pathLst>
            </a:custGeom>
            <a:solidFill>
              <a:srgbClr val="D7CAB8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8"/>
            <p:cNvSpPr txBox="1"/>
            <p:nvPr/>
          </p:nvSpPr>
          <p:spPr>
            <a:xfrm>
              <a:off x="0" y="-57150"/>
              <a:ext cx="3256417" cy="739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409197" y="7033015"/>
            <a:ext cx="11868654" cy="2226947"/>
            <a:chOff x="0" y="-57150"/>
            <a:chExt cx="15824872" cy="2969263"/>
          </a:xfrm>
        </p:grpSpPr>
        <p:sp>
          <p:nvSpPr>
            <p:cNvPr id="356" name="Google Shape;356;p8"/>
            <p:cNvSpPr/>
            <p:nvPr/>
          </p:nvSpPr>
          <p:spPr>
            <a:xfrm>
              <a:off x="0" y="680915"/>
              <a:ext cx="15824872" cy="1760517"/>
            </a:xfrm>
            <a:custGeom>
              <a:avLst/>
              <a:gdLst/>
              <a:ahLst/>
              <a:cxnLst/>
              <a:rect l="l" t="t" r="r" b="b"/>
              <a:pathLst>
                <a:path w="15824872" h="1760517" extrusionOk="0">
                  <a:moveTo>
                    <a:pt x="0" y="0"/>
                  </a:moveTo>
                  <a:lnTo>
                    <a:pt x="15824872" y="0"/>
                  </a:lnTo>
                  <a:lnTo>
                    <a:pt x="15824872" y="1760517"/>
                  </a:lnTo>
                  <a:lnTo>
                    <a:pt x="0" y="17605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8"/>
            <p:cNvSpPr txBox="1"/>
            <p:nvPr/>
          </p:nvSpPr>
          <p:spPr>
            <a:xfrm>
              <a:off x="0" y="-57150"/>
              <a:ext cx="15824872" cy="59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Case By Case Values</a:t>
              </a:r>
              <a:endParaRPr/>
            </a:p>
          </p:txBody>
        </p:sp>
        <p:sp>
          <p:nvSpPr>
            <p:cNvPr id="358" name="Google Shape;358;p8"/>
            <p:cNvSpPr txBox="1"/>
            <p:nvPr/>
          </p:nvSpPr>
          <p:spPr>
            <a:xfrm>
              <a:off x="49225" y="2536710"/>
              <a:ext cx="3672377" cy="37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All values in million (M)</a:t>
              </a:r>
              <a:endParaRPr/>
            </a:p>
          </p:txBody>
        </p:sp>
      </p:grpSp>
      <p:grpSp>
        <p:nvGrpSpPr>
          <p:cNvPr id="359" name="Google Shape;359;p8"/>
          <p:cNvGrpSpPr/>
          <p:nvPr/>
        </p:nvGrpSpPr>
        <p:grpSpPr>
          <a:xfrm>
            <a:off x="13439927" y="1052126"/>
            <a:ext cx="3552469" cy="2853368"/>
            <a:chOff x="0" y="-289322"/>
            <a:chExt cx="4736625" cy="3804491"/>
          </a:xfrm>
        </p:grpSpPr>
        <p:grpSp>
          <p:nvGrpSpPr>
            <p:cNvPr id="360" name="Google Shape;360;p8"/>
            <p:cNvGrpSpPr/>
            <p:nvPr/>
          </p:nvGrpSpPr>
          <p:grpSpPr>
            <a:xfrm>
              <a:off x="621825" y="-289322"/>
              <a:ext cx="4114800" cy="3441615"/>
              <a:chOff x="0" y="-57150"/>
              <a:chExt cx="812800" cy="679825"/>
            </a:xfrm>
          </p:grpSpPr>
          <p:sp>
            <p:nvSpPr>
              <p:cNvPr id="361" name="Google Shape;361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D7CAB8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8"/>
            <p:cNvGrpSpPr/>
            <p:nvPr/>
          </p:nvGrpSpPr>
          <p:grpSpPr>
            <a:xfrm>
              <a:off x="0" y="73554"/>
              <a:ext cx="4114800" cy="3441615"/>
              <a:chOff x="0" y="-57150"/>
              <a:chExt cx="812800" cy="679825"/>
            </a:xfrm>
          </p:grpSpPr>
          <p:sp>
            <p:nvSpPr>
              <p:cNvPr id="364" name="Google Shape;364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6" name="Google Shape;366;p8"/>
          <p:cNvGrpSpPr/>
          <p:nvPr/>
        </p:nvGrpSpPr>
        <p:grpSpPr>
          <a:xfrm>
            <a:off x="13439927" y="4073451"/>
            <a:ext cx="3552469" cy="2853368"/>
            <a:chOff x="0" y="-289322"/>
            <a:chExt cx="4736625" cy="3804491"/>
          </a:xfrm>
        </p:grpSpPr>
        <p:grpSp>
          <p:nvGrpSpPr>
            <p:cNvPr id="367" name="Google Shape;367;p8"/>
            <p:cNvGrpSpPr/>
            <p:nvPr/>
          </p:nvGrpSpPr>
          <p:grpSpPr>
            <a:xfrm>
              <a:off x="621825" y="-289322"/>
              <a:ext cx="4114800" cy="3441615"/>
              <a:chOff x="0" y="-57150"/>
              <a:chExt cx="812800" cy="679825"/>
            </a:xfrm>
          </p:grpSpPr>
          <p:sp>
            <p:nvSpPr>
              <p:cNvPr id="368" name="Google Shape;368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D7CAB8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8"/>
            <p:cNvGrpSpPr/>
            <p:nvPr/>
          </p:nvGrpSpPr>
          <p:grpSpPr>
            <a:xfrm>
              <a:off x="0" y="73554"/>
              <a:ext cx="4114800" cy="3441615"/>
              <a:chOff x="0" y="-57150"/>
              <a:chExt cx="812800" cy="679825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3" name="Google Shape;373;p8"/>
          <p:cNvGrpSpPr/>
          <p:nvPr/>
        </p:nvGrpSpPr>
        <p:grpSpPr>
          <a:xfrm>
            <a:off x="13439927" y="7094776"/>
            <a:ext cx="3552469" cy="2853368"/>
            <a:chOff x="0" y="-289322"/>
            <a:chExt cx="4736625" cy="3804491"/>
          </a:xfrm>
        </p:grpSpPr>
        <p:grpSp>
          <p:nvGrpSpPr>
            <p:cNvPr id="374" name="Google Shape;374;p8"/>
            <p:cNvGrpSpPr/>
            <p:nvPr/>
          </p:nvGrpSpPr>
          <p:grpSpPr>
            <a:xfrm>
              <a:off x="621825" y="-289322"/>
              <a:ext cx="4114800" cy="3441615"/>
              <a:chOff x="0" y="-57150"/>
              <a:chExt cx="812800" cy="679825"/>
            </a:xfrm>
          </p:grpSpPr>
          <p:sp>
            <p:nvSpPr>
              <p:cNvPr id="375" name="Google Shape;375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D7CAB8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8"/>
            <p:cNvGrpSpPr/>
            <p:nvPr/>
          </p:nvGrpSpPr>
          <p:grpSpPr>
            <a:xfrm>
              <a:off x="0" y="73554"/>
              <a:ext cx="4114800" cy="3441615"/>
              <a:chOff x="0" y="-57150"/>
              <a:chExt cx="812800" cy="679825"/>
            </a:xfrm>
          </p:grpSpPr>
          <p:sp>
            <p:nvSpPr>
              <p:cNvPr id="378" name="Google Shape;378;p8"/>
              <p:cNvSpPr/>
              <p:nvPr/>
            </p:nvSpPr>
            <p:spPr>
              <a:xfrm>
                <a:off x="0" y="0"/>
                <a:ext cx="81280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22675" extrusionOk="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94734"/>
                    </a:lnTo>
                    <a:cubicBezTo>
                      <a:pt x="812800" y="528666"/>
                      <a:pt x="799321" y="561209"/>
                      <a:pt x="775327" y="585202"/>
                    </a:cubicBezTo>
                    <a:cubicBezTo>
                      <a:pt x="751333" y="609196"/>
                      <a:pt x="718791" y="622675"/>
                      <a:pt x="684859" y="622675"/>
                    </a:cubicBezTo>
                    <a:lnTo>
                      <a:pt x="127941" y="622675"/>
                    </a:lnTo>
                    <a:cubicBezTo>
                      <a:pt x="94009" y="622675"/>
                      <a:pt x="61467" y="609196"/>
                      <a:pt x="37473" y="585202"/>
                    </a:cubicBezTo>
                    <a:cubicBezTo>
                      <a:pt x="13479" y="561209"/>
                      <a:pt x="0" y="528666"/>
                      <a:pt x="0" y="49473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8"/>
              <p:cNvSpPr txBox="1"/>
              <p:nvPr/>
            </p:nvSpPr>
            <p:spPr>
              <a:xfrm>
                <a:off x="0" y="-57150"/>
                <a:ext cx="812800" cy="679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0" name="Google Shape;380;p8"/>
          <p:cNvGrpSpPr/>
          <p:nvPr/>
        </p:nvGrpSpPr>
        <p:grpSpPr>
          <a:xfrm>
            <a:off x="409197" y="1299609"/>
            <a:ext cx="10297739" cy="5317473"/>
            <a:chOff x="0" y="-289322"/>
            <a:chExt cx="13730318" cy="7089963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0" y="-289322"/>
              <a:ext cx="13730318" cy="7089963"/>
              <a:chOff x="0" y="-57150"/>
              <a:chExt cx="2712162" cy="1400487"/>
            </a:xfrm>
          </p:grpSpPr>
          <p:sp>
            <p:nvSpPr>
              <p:cNvPr id="382" name="Google Shape;382;p8"/>
              <p:cNvSpPr/>
              <p:nvPr/>
            </p:nvSpPr>
            <p:spPr>
              <a:xfrm>
                <a:off x="414026" y="3482"/>
                <a:ext cx="2298136" cy="1339855"/>
              </a:xfrm>
              <a:custGeom>
                <a:avLst/>
                <a:gdLst/>
                <a:ahLst/>
                <a:cxnLst/>
                <a:rect l="l" t="t" r="r" b="b"/>
                <a:pathLst>
                  <a:path w="2298136" h="1339855" extrusionOk="0">
                    <a:moveTo>
                      <a:pt x="20321" y="0"/>
                    </a:moveTo>
                    <a:lnTo>
                      <a:pt x="2277815" y="0"/>
                    </a:lnTo>
                    <a:cubicBezTo>
                      <a:pt x="2283204" y="0"/>
                      <a:pt x="2288373" y="2141"/>
                      <a:pt x="2292184" y="5952"/>
                    </a:cubicBezTo>
                    <a:cubicBezTo>
                      <a:pt x="2295995" y="9763"/>
                      <a:pt x="2298136" y="14932"/>
                      <a:pt x="2298136" y="20321"/>
                    </a:cubicBezTo>
                    <a:lnTo>
                      <a:pt x="2298136" y="1319534"/>
                    </a:lnTo>
                    <a:cubicBezTo>
                      <a:pt x="2298136" y="1324923"/>
                      <a:pt x="2295995" y="1330092"/>
                      <a:pt x="2292184" y="1333903"/>
                    </a:cubicBezTo>
                    <a:cubicBezTo>
                      <a:pt x="2288373" y="1337714"/>
                      <a:pt x="2283204" y="1339855"/>
                      <a:pt x="2277815" y="1339855"/>
                    </a:cubicBezTo>
                    <a:lnTo>
                      <a:pt x="20321" y="1339855"/>
                    </a:lnTo>
                    <a:cubicBezTo>
                      <a:pt x="14932" y="1339855"/>
                      <a:pt x="9763" y="1337714"/>
                      <a:pt x="5952" y="1333903"/>
                    </a:cubicBezTo>
                    <a:cubicBezTo>
                      <a:pt x="2141" y="1330092"/>
                      <a:pt x="0" y="1324923"/>
                      <a:pt x="0" y="1319534"/>
                    </a:cubicBezTo>
                    <a:lnTo>
                      <a:pt x="0" y="20321"/>
                    </a:lnTo>
                    <a:cubicBezTo>
                      <a:pt x="0" y="14932"/>
                      <a:pt x="2141" y="9763"/>
                      <a:pt x="5952" y="5952"/>
                    </a:cubicBezTo>
                    <a:cubicBezTo>
                      <a:pt x="9763" y="2141"/>
                      <a:pt x="14932" y="0"/>
                      <a:pt x="20321" y="0"/>
                    </a:cubicBezTo>
                    <a:close/>
                  </a:path>
                </a:pathLst>
              </a:custGeom>
              <a:solidFill>
                <a:srgbClr val="D7CAB8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8"/>
              <p:cNvSpPr txBox="1"/>
              <p:nvPr/>
            </p:nvSpPr>
            <p:spPr>
              <a:xfrm>
                <a:off x="0" y="-57150"/>
                <a:ext cx="2298136" cy="1397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4350" tIns="44350" rIns="44350" bIns="44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4" name="Google Shape;384;p8"/>
            <p:cNvSpPr/>
            <p:nvPr/>
          </p:nvSpPr>
          <p:spPr>
            <a:xfrm>
              <a:off x="2365753" y="915804"/>
              <a:ext cx="10988861" cy="5312151"/>
            </a:xfrm>
            <a:custGeom>
              <a:avLst/>
              <a:gdLst/>
              <a:ahLst/>
              <a:cxnLst/>
              <a:rect l="l" t="t" r="r" b="b"/>
              <a:pathLst>
                <a:path w="10988861" h="5312151" extrusionOk="0">
                  <a:moveTo>
                    <a:pt x="0" y="0"/>
                  </a:moveTo>
                  <a:lnTo>
                    <a:pt x="10988861" y="0"/>
                  </a:lnTo>
                  <a:lnTo>
                    <a:pt x="10988861" y="5312151"/>
                  </a:lnTo>
                  <a:lnTo>
                    <a:pt x="0" y="53121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8"/>
            <p:cNvSpPr txBox="1"/>
            <p:nvPr/>
          </p:nvSpPr>
          <p:spPr>
            <a:xfrm>
              <a:off x="2365753" y="78481"/>
              <a:ext cx="10988861" cy="664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77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Estimates</a:t>
              </a:r>
              <a:endParaRPr/>
            </a:p>
          </p:txBody>
        </p:sp>
        <p:sp>
          <p:nvSpPr>
            <p:cNvPr id="386" name="Google Shape;386;p8"/>
            <p:cNvSpPr txBox="1"/>
            <p:nvPr/>
          </p:nvSpPr>
          <p:spPr>
            <a:xfrm>
              <a:off x="2365752" y="6192888"/>
              <a:ext cx="4467854" cy="407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3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All values in million (M)</a:t>
              </a:r>
              <a:endParaRPr/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269974" y="231765"/>
            <a:ext cx="13835039" cy="81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APA has the potential for an 80%+ move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4509388" y="1771655"/>
            <a:ext cx="888057" cy="43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Bear: </a:t>
            </a:r>
            <a:endParaRPr/>
          </a:p>
        </p:txBody>
      </p:sp>
      <p:sp>
        <p:nvSpPr>
          <p:cNvPr id="389" name="Google Shape;389;p8"/>
          <p:cNvSpPr txBox="1"/>
          <p:nvPr/>
        </p:nvSpPr>
        <p:spPr>
          <a:xfrm>
            <a:off x="14509388" y="4686544"/>
            <a:ext cx="968913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Base:</a:t>
            </a:r>
            <a:endParaRPr/>
          </a:p>
        </p:txBody>
      </p:sp>
      <p:sp>
        <p:nvSpPr>
          <p:cNvPr id="390" name="Google Shape;390;p8"/>
          <p:cNvSpPr txBox="1"/>
          <p:nvPr/>
        </p:nvSpPr>
        <p:spPr>
          <a:xfrm>
            <a:off x="14600471" y="7707869"/>
            <a:ext cx="674489" cy="43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Bull:</a:t>
            </a:r>
            <a:endParaRPr/>
          </a:p>
        </p:txBody>
      </p:sp>
      <p:sp>
        <p:nvSpPr>
          <p:cNvPr id="391" name="Google Shape;391;p8"/>
          <p:cNvSpPr txBox="1"/>
          <p:nvPr/>
        </p:nvSpPr>
        <p:spPr>
          <a:xfrm>
            <a:off x="14382289" y="8198157"/>
            <a:ext cx="1467311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$87.28</a:t>
            </a:r>
            <a:endParaRPr/>
          </a:p>
        </p:txBody>
      </p:sp>
      <p:sp>
        <p:nvSpPr>
          <p:cNvPr id="392" name="Google Shape;392;p8"/>
          <p:cNvSpPr txBox="1"/>
          <p:nvPr/>
        </p:nvSpPr>
        <p:spPr>
          <a:xfrm>
            <a:off x="13705863" y="8198157"/>
            <a:ext cx="593308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PT:</a:t>
            </a:r>
            <a:endParaRPr/>
          </a:p>
        </p:txBody>
      </p:sp>
      <p:sp>
        <p:nvSpPr>
          <p:cNvPr id="393" name="Google Shape;393;p8"/>
          <p:cNvSpPr txBox="1"/>
          <p:nvPr/>
        </p:nvSpPr>
        <p:spPr>
          <a:xfrm>
            <a:off x="14301924" y="8858556"/>
            <a:ext cx="1547676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+263%</a:t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14391144" y="5151748"/>
            <a:ext cx="1229856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$44.18</a:t>
            </a:r>
            <a:endParaRPr/>
          </a:p>
        </p:txBody>
      </p:sp>
      <p:sp>
        <p:nvSpPr>
          <p:cNvPr id="395" name="Google Shape;395;p8"/>
          <p:cNvSpPr txBox="1"/>
          <p:nvPr/>
        </p:nvSpPr>
        <p:spPr>
          <a:xfrm>
            <a:off x="13705863" y="5151749"/>
            <a:ext cx="593307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PT: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14398885" y="5812147"/>
            <a:ext cx="1222115" cy="412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+84%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14216483" y="2187575"/>
            <a:ext cx="1261818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$29.13</a:t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13631162" y="2187575"/>
            <a:ext cx="550268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7F4EE"/>
                </a:solidFill>
                <a:latin typeface="Inter"/>
                <a:ea typeface="Inter"/>
                <a:cs typeface="Inter"/>
                <a:sym typeface="Inter"/>
              </a:rPr>
              <a:t>PT:</a:t>
            </a:r>
            <a:endParaRPr/>
          </a:p>
        </p:txBody>
      </p:sp>
      <p:sp>
        <p:nvSpPr>
          <p:cNvPr id="399" name="Google Shape;399;p8"/>
          <p:cNvSpPr txBox="1"/>
          <p:nvPr/>
        </p:nvSpPr>
        <p:spPr>
          <a:xfrm>
            <a:off x="14445022" y="2800349"/>
            <a:ext cx="1071860" cy="41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+21%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6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9"/>
          <p:cNvGrpSpPr/>
          <p:nvPr/>
        </p:nvGrpSpPr>
        <p:grpSpPr>
          <a:xfrm>
            <a:off x="0" y="-216992"/>
            <a:ext cx="18288000" cy="1245692"/>
            <a:chOff x="0" y="-57150"/>
            <a:chExt cx="4816593" cy="328083"/>
          </a:xfrm>
        </p:grpSpPr>
        <p:sp>
          <p:nvSpPr>
            <p:cNvPr id="405" name="Google Shape;405;p9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16427402" y="0"/>
            <a:ext cx="1860598" cy="1216499"/>
          </a:xfrm>
          <a:custGeom>
            <a:avLst/>
            <a:gdLst/>
            <a:ahLst/>
            <a:cxnLst/>
            <a:rect l="l" t="t" r="r" b="b"/>
            <a:pathLst>
              <a:path w="1860598" h="1216499" extrusionOk="0">
                <a:moveTo>
                  <a:pt x="0" y="0"/>
                </a:moveTo>
                <a:lnTo>
                  <a:pt x="1860598" y="0"/>
                </a:lnTo>
                <a:lnTo>
                  <a:pt x="1860598" y="1216499"/>
                </a:lnTo>
                <a:lnTo>
                  <a:pt x="0" y="1216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 txBox="1"/>
          <p:nvPr/>
        </p:nvSpPr>
        <p:spPr>
          <a:xfrm>
            <a:off x="13026260" y="4102613"/>
            <a:ext cx="3991868" cy="107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Price Target</a:t>
            </a:r>
            <a:endParaRPr/>
          </a:p>
        </p:txBody>
      </p:sp>
      <p:cxnSp>
        <p:nvCxnSpPr>
          <p:cNvPr id="409" name="Google Shape;409;p9"/>
          <p:cNvCxnSpPr/>
          <p:nvPr/>
        </p:nvCxnSpPr>
        <p:spPr>
          <a:xfrm>
            <a:off x="11549885" y="2057400"/>
            <a:ext cx="0" cy="649224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0" name="Google Shape;410;p9"/>
          <p:cNvGrpSpPr/>
          <p:nvPr/>
        </p:nvGrpSpPr>
        <p:grpSpPr>
          <a:xfrm>
            <a:off x="13805673" y="1591285"/>
            <a:ext cx="2390775" cy="2390775"/>
            <a:chOff x="0" y="0"/>
            <a:chExt cx="3187700" cy="3187700"/>
          </a:xfrm>
        </p:grpSpPr>
        <p:sp>
          <p:nvSpPr>
            <p:cNvPr id="411" name="Google Shape;411;p9"/>
            <p:cNvSpPr/>
            <p:nvPr/>
          </p:nvSpPr>
          <p:spPr>
            <a:xfrm>
              <a:off x="0" y="0"/>
              <a:ext cx="3187700" cy="3187700"/>
            </a:xfrm>
            <a:custGeom>
              <a:avLst/>
              <a:gdLst/>
              <a:ahLst/>
              <a:cxnLst/>
              <a:rect l="l" t="t" r="r" b="b"/>
              <a:pathLst>
                <a:path w="3187700" h="3187700" extrusionOk="0">
                  <a:moveTo>
                    <a:pt x="0" y="0"/>
                  </a:moveTo>
                  <a:lnTo>
                    <a:pt x="3187700" y="0"/>
                  </a:lnTo>
                  <a:lnTo>
                    <a:pt x="3187700" y="3187700"/>
                  </a:lnTo>
                  <a:lnTo>
                    <a:pt x="0" y="31877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9"/>
            <p:cNvSpPr txBox="1"/>
            <p:nvPr/>
          </p:nvSpPr>
          <p:spPr>
            <a:xfrm>
              <a:off x="0" y="1126915"/>
              <a:ext cx="3187700" cy="857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79" b="1">
                  <a:solidFill>
                    <a:srgbClr val="87A139"/>
                  </a:solidFill>
                  <a:latin typeface="Arial"/>
                  <a:ea typeface="Arial"/>
                  <a:cs typeface="Arial"/>
                  <a:sym typeface="Arial"/>
                </a:rPr>
                <a:t>$58.53</a:t>
              </a:r>
              <a:endParaRPr/>
            </a:p>
          </p:txBody>
        </p:sp>
      </p:grpSp>
      <p:grpSp>
        <p:nvGrpSpPr>
          <p:cNvPr id="413" name="Google Shape;413;p9"/>
          <p:cNvGrpSpPr/>
          <p:nvPr/>
        </p:nvGrpSpPr>
        <p:grpSpPr>
          <a:xfrm>
            <a:off x="13825006" y="5931262"/>
            <a:ext cx="2394375" cy="2394375"/>
            <a:chOff x="0" y="0"/>
            <a:chExt cx="3192499" cy="3192499"/>
          </a:xfrm>
        </p:grpSpPr>
        <p:sp>
          <p:nvSpPr>
            <p:cNvPr id="414" name="Google Shape;414;p9"/>
            <p:cNvSpPr/>
            <p:nvPr/>
          </p:nvSpPr>
          <p:spPr>
            <a:xfrm>
              <a:off x="0" y="0"/>
              <a:ext cx="3192499" cy="3192499"/>
            </a:xfrm>
            <a:custGeom>
              <a:avLst/>
              <a:gdLst/>
              <a:ahLst/>
              <a:cxnLst/>
              <a:rect l="l" t="t" r="r" b="b"/>
              <a:pathLst>
                <a:path w="3192499" h="3192499" extrusionOk="0">
                  <a:moveTo>
                    <a:pt x="0" y="0"/>
                  </a:moveTo>
                  <a:lnTo>
                    <a:pt x="3192499" y="0"/>
                  </a:lnTo>
                  <a:lnTo>
                    <a:pt x="3192499" y="3192499"/>
                  </a:lnTo>
                  <a:lnTo>
                    <a:pt x="0" y="31924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9"/>
            <p:cNvSpPr txBox="1"/>
            <p:nvPr/>
          </p:nvSpPr>
          <p:spPr>
            <a:xfrm>
              <a:off x="0" y="1128727"/>
              <a:ext cx="3192499" cy="858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84" b="1">
                  <a:solidFill>
                    <a:srgbClr val="87A139"/>
                  </a:solidFill>
                  <a:latin typeface="Arial"/>
                  <a:ea typeface="Arial"/>
                  <a:cs typeface="Arial"/>
                  <a:sym typeface="Arial"/>
                </a:rPr>
                <a:t>122.67%</a:t>
              </a:r>
              <a:endParaRPr/>
            </a:p>
          </p:txBody>
        </p:sp>
      </p:grpSp>
      <p:sp>
        <p:nvSpPr>
          <p:cNvPr id="416" name="Google Shape;416;p9"/>
          <p:cNvSpPr/>
          <p:nvPr/>
        </p:nvSpPr>
        <p:spPr>
          <a:xfrm>
            <a:off x="0" y="9324975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7" y="0"/>
                </a:lnTo>
                <a:lnTo>
                  <a:pt x="835937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835937" y="9310853"/>
            <a:ext cx="835937" cy="976147"/>
          </a:xfrm>
          <a:custGeom>
            <a:avLst/>
            <a:gdLst/>
            <a:ahLst/>
            <a:cxnLst/>
            <a:rect l="l" t="t" r="r" b="b"/>
            <a:pathLst>
              <a:path w="835937" h="976147" extrusionOk="0">
                <a:moveTo>
                  <a:pt x="0" y="0"/>
                </a:moveTo>
                <a:lnTo>
                  <a:pt x="835936" y="0"/>
                </a:lnTo>
                <a:lnTo>
                  <a:pt x="835936" y="976147"/>
                </a:lnTo>
                <a:lnTo>
                  <a:pt x="0" y="976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 txBox="1"/>
          <p:nvPr/>
        </p:nvSpPr>
        <p:spPr>
          <a:xfrm>
            <a:off x="566299" y="130810"/>
            <a:ext cx="8577701" cy="89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Decision - Buy APA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353078" y="4301314"/>
            <a:ext cx="9722367" cy="152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5" b="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2 - Diverse Portfolio Spanning Multiple Geographic Locations, Market Segments, and Growth through Mergers &amp; Acquisitions.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353078" y="7218280"/>
            <a:ext cx="10780981" cy="10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9" b="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3 - Increase in barrel production, revenue, redistribution of cash to stakeholders.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353078" y="2217785"/>
            <a:ext cx="10761931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5" b="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1 - Intrinsically undervalued both historically and among peers.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13169767" y="8555990"/>
            <a:ext cx="3662586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% Change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Microsoft Office PowerPoint</Application>
  <PresentationFormat>Custom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Barlow Condensed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Balog</cp:lastModifiedBy>
  <cp:revision>1</cp:revision>
  <dcterms:created xsi:type="dcterms:W3CDTF">2006-08-16T00:00:00Z</dcterms:created>
  <dcterms:modified xsi:type="dcterms:W3CDTF">2026-02-11T22:57:31Z</dcterms:modified>
</cp:coreProperties>
</file>